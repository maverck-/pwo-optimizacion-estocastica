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6196ce2d034e3e" /><Relationship Type="http://schemas.openxmlformats.org/officeDocument/2006/relationships/extended-properties" Target="/docProps/app.xml" Id="R3bd0ea81650048d7" /><Relationship Type="http://schemas.openxmlformats.org/officeDocument/2006/relationships/officeDocument" Target="/ppt/presentation.xml" Id="R68bc0f2a15a345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b8ef519f644da5"/>
  </p:sldMasterIdLst>
  <p:notesMasterIdLst>
    <p:notesMasterId xmlns:r="http://schemas.openxmlformats.org/officeDocument/2006/relationships" r:id="R2913a95c16454f61"/>
  </p:notesMasterIdLst>
  <p:sldIdLst>
    <p:sldId xmlns:r="http://schemas.openxmlformats.org/officeDocument/2006/relationships" id="256" r:id="R26163a0b553b45dc"/>
    <p:sldId xmlns:r="http://schemas.openxmlformats.org/officeDocument/2006/relationships" id="257" r:id="Rd8f0e83b7eb74a96"/>
    <p:sldId xmlns:r="http://schemas.openxmlformats.org/officeDocument/2006/relationships" id="258" r:id="R8b2f9810c32e45c3"/>
    <p:sldId xmlns:r="http://schemas.openxmlformats.org/officeDocument/2006/relationships" id="259" r:id="R743266fb496a4e0d"/>
    <p:sldId xmlns:r="http://schemas.openxmlformats.org/officeDocument/2006/relationships" id="260" r:id="Rf69290e2770d45f0"/>
    <p:sldId xmlns:r="http://schemas.openxmlformats.org/officeDocument/2006/relationships" id="261" r:id="R26e7c8d5b12e42ac"/>
    <p:sldId xmlns:r="http://schemas.openxmlformats.org/officeDocument/2006/relationships" id="262" r:id="Radbac690ba4a4737"/>
    <p:sldId xmlns:r="http://schemas.openxmlformats.org/officeDocument/2006/relationships" id="263" r:id="R3935815abfdb4f1c"/>
    <p:sldId xmlns:r="http://schemas.openxmlformats.org/officeDocument/2006/relationships" id="264" r:id="R395a416157cf4f53"/>
    <p:sldId xmlns:r="http://schemas.openxmlformats.org/officeDocument/2006/relationships" id="265" r:id="R161a7ecea9694a36"/>
    <p:sldId xmlns:r="http://schemas.openxmlformats.org/officeDocument/2006/relationships" id="266" r:id="Rb735c474181343bf"/>
    <p:sldId xmlns:r="http://schemas.openxmlformats.org/officeDocument/2006/relationships" id="267" r:id="R3e0776adfbfc44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75a43a8b914fa0" /><Relationship Type="http://schemas.openxmlformats.org/officeDocument/2006/relationships/slideMaster" Target="/ppt/slideMasters/slideMaster1.xml" Id="Rfbb8ef519f644da5" /><Relationship Type="http://schemas.openxmlformats.org/officeDocument/2006/relationships/notesMaster" Target="/ppt/notesMasters/notesMaster1.xml" Id="R2913a95c16454f61" /><Relationship Type="http://schemas.openxmlformats.org/officeDocument/2006/relationships/presProps" Target="/ppt/presProps.xml" Id="Rbbc546be949646c0" /><Relationship Type="http://schemas.openxmlformats.org/officeDocument/2006/relationships/tableStyles" Target="/ppt/tableStyles.xml" Id="Rca5d799f86d54135" /><Relationship Type="http://schemas.openxmlformats.org/officeDocument/2006/relationships/slide" Target="/ppt/slides/slide1.xml" Id="R26163a0b553b45dc" /><Relationship Type="http://schemas.openxmlformats.org/officeDocument/2006/relationships/slide" Target="/ppt/slides/slide2.xml" Id="Rd8f0e83b7eb74a96" /><Relationship Type="http://schemas.openxmlformats.org/officeDocument/2006/relationships/slide" Target="/ppt/slides/slide3.xml" Id="R8b2f9810c32e45c3" /><Relationship Type="http://schemas.openxmlformats.org/officeDocument/2006/relationships/slide" Target="/ppt/slides/slide4.xml" Id="R743266fb496a4e0d" /><Relationship Type="http://schemas.openxmlformats.org/officeDocument/2006/relationships/slide" Target="/ppt/slides/slide5.xml" Id="Rf69290e2770d45f0" /><Relationship Type="http://schemas.openxmlformats.org/officeDocument/2006/relationships/slide" Target="/ppt/slides/slide6.xml" Id="R26e7c8d5b12e42ac" /><Relationship Type="http://schemas.openxmlformats.org/officeDocument/2006/relationships/slide" Target="/ppt/slides/slide7.xml" Id="Radbac690ba4a4737" /><Relationship Type="http://schemas.openxmlformats.org/officeDocument/2006/relationships/slide" Target="/ppt/slides/slide8.xml" Id="R3935815abfdb4f1c" /><Relationship Type="http://schemas.openxmlformats.org/officeDocument/2006/relationships/slide" Target="/ppt/slides/slide9.xml" Id="R395a416157cf4f53" /><Relationship Type="http://schemas.openxmlformats.org/officeDocument/2006/relationships/slide" Target="/ppt/slides/slide10.xml" Id="R161a7ecea9694a36" /><Relationship Type="http://schemas.openxmlformats.org/officeDocument/2006/relationships/slide" Target="/ppt/slides/slide11.xml" Id="Rb735c474181343bf" /><Relationship Type="http://schemas.openxmlformats.org/officeDocument/2006/relationships/slide" Target="/ppt/slides/slide12.xml" Id="R3e0776adfbfc44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7523ce0a5b40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5d95ae87a54484" /><Relationship Type="http://schemas.openxmlformats.org/officeDocument/2006/relationships/notesMaster" Target="/ppt/notesMasters/notesMaster1.xml" Id="R788208482f524a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64b2a18c1044a6" /><Relationship Type="http://schemas.openxmlformats.org/officeDocument/2006/relationships/notesMaster" Target="/ppt/notesMasters/notesMaster1.xml" Id="Rf1afe596122f43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91b68ae5a64a3d" /><Relationship Type="http://schemas.openxmlformats.org/officeDocument/2006/relationships/notesMaster" Target="/ppt/notesMasters/notesMaster1.xml" Id="R768aca256a5a4e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9d9794a03343db" /><Relationship Type="http://schemas.openxmlformats.org/officeDocument/2006/relationships/notesMaster" Target="/ppt/notesMasters/notesMaster1.xml" Id="R878093655f4545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026a2ac7e34c1f" /><Relationship Type="http://schemas.openxmlformats.org/officeDocument/2006/relationships/notesMaster" Target="/ppt/notesMasters/notesMaster1.xml" Id="Rc991d40243f745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11361b427a4a3f" /><Relationship Type="http://schemas.openxmlformats.org/officeDocument/2006/relationships/notesMaster" Target="/ppt/notesMasters/notesMaster1.xml" Id="R10b8855ce9464c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1e80db6cce4ba2" /><Relationship Type="http://schemas.openxmlformats.org/officeDocument/2006/relationships/notesMaster" Target="/ppt/notesMasters/notesMaster1.xml" Id="R8b97299da23345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408f72665548b6" /><Relationship Type="http://schemas.openxmlformats.org/officeDocument/2006/relationships/notesMaster" Target="/ppt/notesMasters/notesMaster1.xml" Id="Rbc65772687c84a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0501e1df614b3d" /><Relationship Type="http://schemas.openxmlformats.org/officeDocument/2006/relationships/notesMaster" Target="/ppt/notesMasters/notesMaster1.xml" Id="R64f530d6e37a45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c0970324cc49fb" /><Relationship Type="http://schemas.openxmlformats.org/officeDocument/2006/relationships/notesMaster" Target="/ppt/notesMasters/notesMaster1.xml" Id="R55b718712f374e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88951f58dc4431" /><Relationship Type="http://schemas.openxmlformats.org/officeDocument/2006/relationships/notesMaster" Target="/ppt/notesMasters/notesMaster1.xml" Id="R9c267603523d43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80bdff44d24e7a" /><Relationship Type="http://schemas.openxmlformats.org/officeDocument/2006/relationships/notesMaster" Target="/ppt/notesMasters/notesMaster1.xml" Id="Rfd8492f1707041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pregunta guía: ¿qué valor recibe una variable de decisión en la siguiente iteración? Delimitar que este avance estudia el dominio real y reserva la binarización para el informe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Sheikhi, S. (2026). Painted Wolf Optimization. DOI: 10.32604/cmc.2026.077788.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Traducir la metáfora: mover un lobo significa construir un nuevo vector. La función objetivo evalúa el vector completo y permite comparar asignaciones.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Sheikhi (2026), secciones 2.1–2.5.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la inicialización ya asigna un valor a cada variable. Luego se evalúa la población, se conserva el alfa y se aplican límites por saturación antes de evaluar.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Sheikhi (2026), Algorithm 1.</a:t>
            </a:r>
          </a:p>
          <a:p xmlns:a="http://schemas.openxmlformats.org/drawingml/2006/main">
            <a:r>
              <a:t>- Repositorio oficial: Python/PWO.py y Matlab/PWO.m.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la secuencia a, influencia del alfa, votos y umbral. Recalcar que la comparación entre R y H es global para la iteración y solamente elige la ecuación de actualización.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Sheikhi (2026), ecuaciones 1–3.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mapa de rutas. Las dos estrategias de exploración se eligen con probabilidad 0.5; la explotación es la tercera regla. Cada rama construye Xᵢ(t+1) con información distinta.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Sheikhi (2026), ecuaciones 4–9.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esta es la rama más particular: una distancia calculada en la dimensión j produce un escalar que el paper y el código asignan al vector. Señalar que la escritura ocurre dentro del ciclo de dimensiones.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Sheikhi (2026), ecuaciones 4–5.</a:t>
            </a:r>
          </a:p>
          <a:p xmlns:a="http://schemas.openxmlformats.org/drawingml/2006/main">
            <a:r>
              <a:t>- Repositorio oficial: Python/PWO.py.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la ecuación en dos componentes: alfa menos media como dirección global y distancia absoluta ponderada por R como ajuste particular de cada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Sheikhi (2026), ecuación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D alfa, A1 y A2. La última ecuación responde directamente la pregunta del avance: qué valor recibe Xᵢ,ⱼ en la iteración siguiente.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Sheikhi (2026), ecuaciones 7–9.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Desarrollar las dos asignaciones escalares. Ambas distancias son 0.01; al ponderarlas por A2 y restarlas del alfa se obtiene el nuevo vector. El fitness mejora y no se requiere reparación de dominio.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Cálculo propio reproducible a partir de Sheikhi (2026), ecuaciones 7–9.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ejecución redujo el mejor fitness desde 4281.3964 hasta 2.519815×10⁻⁹². Aclarar que es una verificación de funcionamiento, no una reproducción estadística ni una prueba de superioridad.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oficial: Python/PWO.py.</a:t>
            </a:r>
          </a:p>
          <a:p xmlns:a="http://schemas.openxmlformats.org/drawingml/2006/main">
            <a:r>
              <a:t>- Ejecución local controlada, semilla NumPy 20260728.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Destacar cuatro discrepancias que afectan la reproducción. Para el avance, el artículo es la formulación académica y Python la referencia operacional; las diferencias se conservarán como decisiones experimentales trazables.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Sheikhi (2026), Algorithm 1 y ecuaciones 1–9.</a:t>
            </a:r>
          </a:p>
          <a:p xmlns:a="http://schemas.openxmlformats.org/drawingml/2006/main">
            <a:r>
              <a:t>- Repositorio oficial: Python/PWO.py y Matlab/PWO.m.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el resultado del avance: representación, rally y tres ecuaciones formalizadas; ruteo y ejecución preliminar listos; discrepancias identificadas. La binarización se construirá sobre una dinámica continua ya estabilizada.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Síntesis propia basada en Sheikhi (2026).</a:t>
            </a:r>
          </a:p>
          <a:p xmlns:a="http://schemas.openxmlformats.org/drawingml/2006/main">
            <a:r>
              <a:t>- Plan de trabajo del proyecto PWO.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89c3b69f145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49b8838c0d43d8" /><Relationship Type="http://schemas.openxmlformats.org/officeDocument/2006/relationships/slideLayout" Target="/ppt/slideLayouts/slideLayout1.xml" Id="Rba602c4401b348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602c4401b348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941014f8542cc" /><Relationship Type="http://schemas.openxmlformats.org/officeDocument/2006/relationships/notesSlide" Target="/ppt/notesSlides/notesSlide1.xml" Id="R0ab4ef1783ae4e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6fd3f3207497a" /><Relationship Type="http://schemas.openxmlformats.org/officeDocument/2006/relationships/notesSlide" Target="/ppt/notesSlides/notesSlide2.xml" Id="Rf13142b829a242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48e6ad26d40b3" /><Relationship Type="http://schemas.openxmlformats.org/officeDocument/2006/relationships/notesSlide" Target="/ppt/notesSlides/notesSlide3.xml" Id="Rff3b4a7a6e0741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66fc99ab947de" /><Relationship Type="http://schemas.openxmlformats.org/officeDocument/2006/relationships/notesSlide" Target="/ppt/notesSlides/notesSlide4.xml" Id="Rad0900b4f6f34b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f722719bd4ade" /><Relationship Type="http://schemas.openxmlformats.org/officeDocument/2006/relationships/notesSlide" Target="/ppt/notesSlides/notesSlide5.xml" Id="R17e1f3d7d8554d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e4cb7be3f466d" /><Relationship Type="http://schemas.openxmlformats.org/officeDocument/2006/relationships/notesSlide" Target="/ppt/notesSlides/notesSlide6.xml" Id="Rf94a7dc0de6a46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a6f25868a4ba2" /><Relationship Type="http://schemas.openxmlformats.org/officeDocument/2006/relationships/notesSlide" Target="/ppt/notesSlides/notesSlide7.xml" Id="Re565c00a90d140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85bc37ab84ba2" /><Relationship Type="http://schemas.openxmlformats.org/officeDocument/2006/relationships/notesSlide" Target="/ppt/notesSlides/notesSlide8.xml" Id="R3e4229dd593e42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3dc9d4cc14e05" /><Relationship Type="http://schemas.openxmlformats.org/officeDocument/2006/relationships/notesSlide" Target="/ppt/notesSlides/notesSlide9.xml" Id="R40f8837e68f34a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f29dade5048e7" /><Relationship Type="http://schemas.openxmlformats.org/officeDocument/2006/relationships/chart" Target="/ppt/slides/charts/chart1.xml" Id="R0217a607c32247d9" /><Relationship Type="http://schemas.openxmlformats.org/officeDocument/2006/relationships/notesSlide" Target="/ppt/notesSlides/notesSlide10.xml" Id="Rdd007719a43e48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896538b614b0e" /><Relationship Type="http://schemas.openxmlformats.org/officeDocument/2006/relationships/notesSlide" Target="/ppt/notesSlides/notesSlide11.xml" Id="Rc6ce3fcb920f42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d8df683c042e6" /><Relationship Type="http://schemas.openxmlformats.org/officeDocument/2006/relationships/notesSlide" Target="/ppt/notesSlides/notesSlide12.xml" Id="Rabacfb8f585a4b40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7324D"/>
                </a:solidFill>
              </a:rPr>
              <a:t>log₁₀ del mejor fitness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7324D"/>
              </a:solidFill>
            </a:defRPr>
          </a:pPr>
        </a:p>
      </c:txPr>
    </c:title>
    <c:plotArea>
      <c:lineChart>
        <c:grouping val="standard"/>
        <c:ser>
          <c:idx val="0"/>
          <c:order val="0"/>
          <c:tx>
            <c:v>PWO oficial</c:v>
          </c:tx>
          <c:spPr>
            <a:ln xmlns:a="http://schemas.openxmlformats.org/drawingml/2006/main" w="38100">
              <a:solidFill>
                <a:srgbClr val="087E8B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20</c:v>
              </c:pt>
              <c:pt idx="2">
                <c:v>40</c:v>
              </c:pt>
              <c:pt idx="3">
                <c:v>60</c:v>
              </c:pt>
              <c:pt idx="4">
                <c:v>80</c:v>
              </c:pt>
              <c:pt idx="5">
                <c:v>100</c:v>
              </c:pt>
            </c:numLit>
          </c:cat>
          <c:val>
            <c:numLit>
              <c:formatCode>General</c:formatCode>
              <c:ptCount val="6"/>
              <c:pt idx="0">
                <c:v>3.632</c:v>
              </c:pt>
              <c:pt idx="1">
                <c:v>-12.301</c:v>
              </c:pt>
              <c:pt idx="2">
                <c:v>-30.948</c:v>
              </c:pt>
              <c:pt idx="3">
                <c:v>-50.847</c:v>
              </c:pt>
              <c:pt idx="4">
                <c:v>-68.389</c:v>
              </c:pt>
              <c:pt idx="5">
                <c:v>-91.599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7324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Iteración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77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log₁₀(f*)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779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3-1">
            <a:extLst xmlns:a="http://schemas.openxmlformats.org/drawingml/2006/main">
              <a:ext uri="{FF2B5EF4-FFF2-40B4-BE49-F238E27FC236}">
                <a16:creationId xmlns:a16="http://schemas.microsoft.com/office/drawing/2014/main" id="{870E3779-C1AA-46C3-99AE-4D19C252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Painted Wolf
Optimization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B89EC91-1F44-4644-BCD4-86C4C817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Movimiento de variables en ℝᵈ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Maverick Gayoso · Rogelio González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779"/>
                </a:solidFill>
                <a:latin typeface="Aptos"/>
                <a:ea typeface="Aptos"/>
                <a:cs typeface="Aptos"/>
              </a:rPr>
              <a:t>MII902 Optimización Estocástica ·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D9CC804-6E01-45DC-BFB3-BC685C90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INFORME DE AVANCE</a:t>
            </a:r>
          </a:p>
        </p:txBody>
      </p:sp>
      <p:sp>
        <p:nvSpPr>
          <p:cNvPr id="4" name="cover-alpha">
            <a:extLst xmlns:a="http://schemas.openxmlformats.org/drawingml/2006/main">
              <a:ext uri="{FF2B5EF4-FFF2-40B4-BE49-F238E27FC236}">
                <a16:creationId xmlns:a16="http://schemas.microsoft.com/office/drawing/2014/main" id="{963D77F7-AF8C-43FA-BB61-74A30B33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478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8DF"/>
          </a:solidFill>
          <a:ln xmlns:a="http://schemas.openxmlformats.org/drawingml/2006/main" w="28575">
            <a:solidFill>
              <a:srgbClr val="E4572E"/>
            </a:solidFill>
            <a:prstDash val="solid"/>
          </a:ln>
        </p:spPr>
      </p:sp>
      <p:sp>
        <p:nvSpPr>
          <p:cNvPr id="5" name="cover-agent-1">
            <a:extLst xmlns:a="http://schemas.openxmlformats.org/drawingml/2006/main">
              <a:ext uri="{FF2B5EF4-FFF2-40B4-BE49-F238E27FC236}">
                <a16:creationId xmlns:a16="http://schemas.microsoft.com/office/drawing/2014/main" id="{04D63230-EF0C-406C-B425-94354749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67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8575">
            <a:solidFill>
              <a:srgbClr val="087E8B"/>
            </a:solidFill>
            <a:prstDash val="solid"/>
          </a:ln>
        </p:spPr>
      </p:sp>
      <p:sp>
        <p:nvSpPr>
          <p:cNvPr id="6" name="cover-agent-2">
            <a:extLst xmlns:a="http://schemas.openxmlformats.org/drawingml/2006/main">
              <a:ext uri="{FF2B5EF4-FFF2-40B4-BE49-F238E27FC236}">
                <a16:creationId xmlns:a16="http://schemas.microsoft.com/office/drawing/2014/main" id="{3FE49D94-8DEC-4C96-AF4E-3715495B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9525">
            <a:solidFill>
              <a:srgbClr val="F2A54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9322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2F2DCAA-08CA-407B-9E40-DA85DA5D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70B3CFC-C29A-47EC-8ADE-0CEF7FC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Cada lobo es una solución; cada dimensión, una variable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1826777-E294-4286-94A9-8B2EEDD2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Representación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Xᵢ(t) = [Xᵢ,₁(t), …, Xᵢ,d(t)]
El vector contiene una asignación completa de valores reales.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F07BE17F-644A-48CF-BD25-8C855AB0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Lectura operacional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  → agente o solución
j  → variable de decisión
t  → iteración
f(Xᵢ) → calidad de la asignación</a:t>
            </a:r>
          </a:p>
        </p:txBody>
      </p:sp>
      <p:sp>
        <p:nvSpPr>
          <p:cNvPr id="5" name="accent-2">
            <a:extLst xmlns:a="http://schemas.openxmlformats.org/drawingml/2006/main">
              <a:ext uri="{FF2B5EF4-FFF2-40B4-BE49-F238E27FC236}">
                <a16:creationId xmlns:a16="http://schemas.microsoft.com/office/drawing/2014/main" id="{C7F66233-0E36-422D-AF8B-A308BD63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2">
            <a:extLst xmlns:a="http://schemas.openxmlformats.org/drawingml/2006/main">
              <a:ext uri="{FF2B5EF4-FFF2-40B4-BE49-F238E27FC236}">
                <a16:creationId xmlns:a16="http://schemas.microsoft.com/office/drawing/2014/main" id="{8B05F599-0B5F-4618-95F8-2DAB1062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PWO · AVANCE</a:t>
            </a:r>
          </a:p>
        </p:txBody>
      </p:sp>
    </p:spTree>
    <p:extLst>
      <p:ext uri="{BB962C8B-B14F-4D97-AF65-F5344CB8AC3E}">
        <p14:creationId xmlns:p14="http://schemas.microsoft.com/office/powerpoint/2010/main" val="10294164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00C94DB-1351-4AB1-BF01-32CD5F77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8526A2A-E185-4F4D-A8E8-4F2C267E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La primera asignación respeta el dominio de cada variable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5B33A20-EE67-4A62-AEAF-548767C1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A584F74-5B21-41D5-B32B-A50FC702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E6693C6-5168-4464-9EC3-72B686CC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73FD140-1859-41D0-88CD-9283F9DF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1 · GENERAR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FA66412-73F0-436F-9DA2-8F3ABA85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2 · EVALUAR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23F1240-C592-4C20-AD7F-58C7CA04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3 · CONSERVAR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D28EE02-57C4-469F-852E-83B15C87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Calcular fitness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 evalúa f(Xᵢ) para los N agentes.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1BAB09C-9828-45BF-A658-80B9A727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Inicializar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Xᵢ,ⱼ(0) = lbⱼ + uᵢ,ⱼ(ubⱼ − lbⱼ)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DB76126-9DC7-42AF-AD09-62E24208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Elegir alfa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Xα es el mejor vector observado hasta el momento.</a:t>
            </a:r>
          </a:p>
        </p:txBody>
      </p:sp>
      <p:sp>
        <p:nvSpPr>
          <p:cNvPr id="13" name="accent-3">
            <a:extLst xmlns:a="http://schemas.openxmlformats.org/drawingml/2006/main">
              <a:ext uri="{FF2B5EF4-FFF2-40B4-BE49-F238E27FC236}">
                <a16:creationId xmlns:a16="http://schemas.microsoft.com/office/drawing/2014/main" id="{1243242E-6F27-4616-A033-ACFCA673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ction-3">
            <a:extLst xmlns:a="http://schemas.openxmlformats.org/drawingml/2006/main">
              <a:ext uri="{FF2B5EF4-FFF2-40B4-BE49-F238E27FC236}">
                <a16:creationId xmlns:a16="http://schemas.microsoft.com/office/drawing/2014/main" id="{CA3791B2-D140-42CD-8EC8-ED831424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PWO · AVANCE</a:t>
            </a:r>
          </a:p>
        </p:txBody>
      </p:sp>
      <p:sp>
        <p:nvSpPr>
          <p:cNvPr id="15" name="domain-note">
            <a:extLst xmlns:a="http://schemas.openxmlformats.org/drawingml/2006/main">
              <a:ext uri="{FF2B5EF4-FFF2-40B4-BE49-F238E27FC236}">
                <a16:creationId xmlns:a16="http://schemas.microsoft.com/office/drawing/2014/main" id="{C8040AA0-910A-493D-B54A-699F6C46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Si una variable sale del intervalo, el código la satura en [lbⱼ, ubⱼ].</a:t>
            </a:r>
          </a:p>
        </p:txBody>
      </p:sp>
    </p:spTree>
    <p:extLst>
      <p:ext uri="{BB962C8B-B14F-4D97-AF65-F5344CB8AC3E}">
        <p14:creationId xmlns:p14="http://schemas.microsoft.com/office/powerpoint/2010/main" val="8751650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3B29BBE-3466-4CCD-815A-FBDC7058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2E2CC93-65BE-4D02-9954-E127C4CA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El rally decide qué ecuación moverá a la población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AB82A5D7-6E44-4C84-A58C-0956C3A3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Señales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a(t) = 2(1 − t/T)
L(t) = |0.04 / a(t)|
Cada agente cercano al alfa aporta un voto de 0.04 a R(t).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CD6ABEFB-556C-4066-A0B7-F20CE5E6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Decisión global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R(t) &lt; H(t)  →  EXPLORACIÓN
R(t) ≥ H(t)  →  EXPLOTACIÓN
El rally selecciona la regla; todavía no cambia variables.</a:t>
            </a:r>
          </a:p>
        </p:txBody>
      </p:sp>
      <p:sp>
        <p:nvSpPr>
          <p:cNvPr id="5" name="accent-4">
            <a:extLst xmlns:a="http://schemas.openxmlformats.org/drawingml/2006/main">
              <a:ext uri="{FF2B5EF4-FFF2-40B4-BE49-F238E27FC236}">
                <a16:creationId xmlns:a16="http://schemas.microsoft.com/office/drawing/2014/main" id="{C2607628-9782-45D2-AC87-006FCE99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4">
            <a:extLst xmlns:a="http://schemas.openxmlformats.org/drawingml/2006/main">
              <a:ext uri="{FF2B5EF4-FFF2-40B4-BE49-F238E27FC236}">
                <a16:creationId xmlns:a16="http://schemas.microsoft.com/office/drawing/2014/main" id="{89FB0A63-90B9-427B-9B6D-2B655918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PWO · AVANCE</a:t>
            </a:r>
          </a:p>
        </p:txBody>
      </p:sp>
    </p:spTree>
    <p:extLst>
      <p:ext uri="{BB962C8B-B14F-4D97-AF65-F5344CB8AC3E}">
        <p14:creationId xmlns:p14="http://schemas.microsoft.com/office/powerpoint/2010/main" val="162131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CFD75FD-B843-4C6C-B3A4-0E6C545B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222DF5B-C316-4395-82FB-9201523A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Una decisión global activa una de tres asignaciones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E36AB741-11C9-4CB8-9E6A-A4D4EE9F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Exploración 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Seguir una dimensión de un agente aleatorio.
Actualización escalar → vector.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A895A92A-F671-463A-8C47-ECE3EA76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Explotación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Asignar cada dimensión respecto del valor correspondiente del alfa.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573B4155-7BD9-4AA6-9393-E05305E5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Exploración 2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Combinar alfa, media poblacional y distancia individual.</a:t>
            </a:r>
          </a:p>
        </p:txBody>
      </p:sp>
      <p:sp>
        <p:nvSpPr>
          <p:cNvPr id="6" name="accent-5">
            <a:extLst xmlns:a="http://schemas.openxmlformats.org/drawingml/2006/main">
              <a:ext uri="{FF2B5EF4-FFF2-40B4-BE49-F238E27FC236}">
                <a16:creationId xmlns:a16="http://schemas.microsoft.com/office/drawing/2014/main" id="{A1166BBE-44F5-4CDB-B54C-9D60A7C2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ction-5">
            <a:extLst xmlns:a="http://schemas.openxmlformats.org/drawingml/2006/main">
              <a:ext uri="{FF2B5EF4-FFF2-40B4-BE49-F238E27FC236}">
                <a16:creationId xmlns:a16="http://schemas.microsoft.com/office/drawing/2014/main" id="{683C65B8-FEB1-489F-B8A4-0DA6A347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PWO · AVANCE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CA096-7EC4-4F78-97D8-E0995C88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6668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7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A6064-2F78-4050-B78A-AEB0A600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668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C132B-0A08-416F-B9A9-04236229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668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856094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D751558-00DE-4DC6-ABD5-A9939A0A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D08CEA1-BF35-4586-B710-4241F232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Exploración 1: una dimensión puede redefinir el vector completo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F7C1EB0-E9BB-421D-BA0B-36BB5BD6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Distancia perturbada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Dᵣₐₙd = |(2Lr₁ + r₂)Xᵣₐₙd,ⱼ − Xᵢ,ⱼ|
Se eligen otro agente y una dimensión j.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F841B1B1-64D1-406A-8DC5-FE4CB8F6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Asignación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Xᵢ(t+1) = Xᵣₐₙd,ⱼ − (2ar₁ − a)Dᵣₐₙd
El escalar resultante se escribe sobre el vector completo.</a:t>
            </a:r>
          </a:p>
        </p:txBody>
      </p:sp>
      <p:sp>
        <p:nvSpPr>
          <p:cNvPr id="5" name="accent-6">
            <a:extLst xmlns:a="http://schemas.openxmlformats.org/drawingml/2006/main">
              <a:ext uri="{FF2B5EF4-FFF2-40B4-BE49-F238E27FC236}">
                <a16:creationId xmlns:a16="http://schemas.microsoft.com/office/drawing/2014/main" id="{027C42A4-ECDC-45FA-8341-45DB2433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6">
            <a:extLst xmlns:a="http://schemas.openxmlformats.org/drawingml/2006/main">
              <a:ext uri="{FF2B5EF4-FFF2-40B4-BE49-F238E27FC236}">
                <a16:creationId xmlns:a16="http://schemas.microsoft.com/office/drawing/2014/main" id="{823782B4-55BA-4B14-8F1C-D69FBF7E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PWO · ECUACIONES</a:t>
            </a:r>
          </a:p>
        </p:txBody>
      </p:sp>
    </p:spTree>
    <p:extLst>
      <p:ext uri="{BB962C8B-B14F-4D97-AF65-F5344CB8AC3E}">
        <p14:creationId xmlns:p14="http://schemas.microsoft.com/office/powerpoint/2010/main" val="6910625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B31236E-7F41-4956-9B7A-96E9363C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DC12F93-0201-4D96-AB08-DECE648A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Exploración 2: dirección global más ajuste individual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A23E4CE2-278D-4134-9842-808CE543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Dirección global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Xα − X̄
Conecta la mejor solución con el centro de la población.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00DB64C8-A543-45D1-BA7E-E4F72745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Nueva posición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Xᵢ(t+1) = (Xα − X̄) − R|Xα − Xᵢ|
La distancia al alfa conserva información individual.</a:t>
            </a:r>
          </a:p>
        </p:txBody>
      </p:sp>
      <p:sp>
        <p:nvSpPr>
          <p:cNvPr id="5" name="accent-7">
            <a:extLst xmlns:a="http://schemas.openxmlformats.org/drawingml/2006/main">
              <a:ext uri="{FF2B5EF4-FFF2-40B4-BE49-F238E27FC236}">
                <a16:creationId xmlns:a16="http://schemas.microsoft.com/office/drawing/2014/main" id="{C5E52569-1045-4AED-8CD3-E6F474F2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7">
            <a:extLst xmlns:a="http://schemas.openxmlformats.org/drawingml/2006/main">
              <a:ext uri="{FF2B5EF4-FFF2-40B4-BE49-F238E27FC236}">
                <a16:creationId xmlns:a16="http://schemas.microsoft.com/office/drawing/2014/main" id="{2ECE8BFF-424A-4415-9154-F6C1594B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PWO · ECUACIONES</a:t>
            </a:r>
          </a:p>
        </p:txBody>
      </p:sp>
    </p:spTree>
    <p:extLst>
      <p:ext uri="{BB962C8B-B14F-4D97-AF65-F5344CB8AC3E}">
        <p14:creationId xmlns:p14="http://schemas.microsoft.com/office/powerpoint/2010/main" val="15856607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B6FACAD-6AF0-4B6D-8A44-0A3AA92D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2E18546-73AB-411A-A2C4-F010D321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Explotación: cada variable se asigna respecto del alfa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3C969D6-1D1C-453F-82A6-7CAA0D29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Coeficiente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Dᵅᵢ,ⱼ = |Xα,ⱼ − Xᵢ,ⱼ|
A₁ = 2ar₁ − a
A₂ = R + a·A₁·L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49D42FAD-152F-461D-B20F-49A4F01A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Respuesta directa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Xᵢ,ⱼ(t+1) = Xα,ⱼ − A₂Dᵅᵢ,ⱼ
La operación se repite para j = 1, …, d.</a:t>
            </a:r>
          </a:p>
        </p:txBody>
      </p:sp>
      <p:sp>
        <p:nvSpPr>
          <p:cNvPr id="5" name="accent-8">
            <a:extLst xmlns:a="http://schemas.openxmlformats.org/drawingml/2006/main">
              <a:ext uri="{FF2B5EF4-FFF2-40B4-BE49-F238E27FC236}">
                <a16:creationId xmlns:a16="http://schemas.microsoft.com/office/drawing/2014/main" id="{2B0B0305-2B09-4AA2-AB39-5C13843B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8">
            <a:extLst xmlns:a="http://schemas.openxmlformats.org/drawingml/2006/main">
              <a:ext uri="{FF2B5EF4-FFF2-40B4-BE49-F238E27FC236}">
                <a16:creationId xmlns:a16="http://schemas.microsoft.com/office/drawing/2014/main" id="{B74C69A6-35DF-4892-9998-16EC370A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PWO · ECUACIONES</a:t>
            </a:r>
          </a:p>
        </p:txBody>
      </p:sp>
      <p:sp>
        <p:nvSpPr>
          <p:cNvPr id="7" name="answer-callout">
            <a:extLst xmlns:a="http://schemas.openxmlformats.org/drawingml/2006/main">
              <a:ext uri="{FF2B5EF4-FFF2-40B4-BE49-F238E27FC236}">
                <a16:creationId xmlns:a16="http://schemas.microsoft.com/office/drawing/2014/main" id="{1838A5C2-E679-4316-8960-7AC62484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054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457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valor nuevo = valor alfa − perturbación ponderada</a:t>
            </a:r>
          </a:p>
        </p:txBody>
      </p:sp>
    </p:spTree>
    <p:extLst>
      <p:ext uri="{BB962C8B-B14F-4D97-AF65-F5344CB8AC3E}">
        <p14:creationId xmlns:p14="http://schemas.microsoft.com/office/powerpoint/2010/main" val="19882030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0994452-9B30-4E60-B699-CF7EB38D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5B2D394-F764-4E9B-BACB-0D229F47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Ruteo: una actualización mejora el fitness de 2.0201 a 1.9758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2DC9E392-E0ED-440F-B4D4-79F19247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Sphere 2D · a = 1.8 · L = 0.022222 · R = 0.08 · A₂ = 0.1088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9"/>
                </a:solidFill>
                <a:latin typeface="Aptos"/>
                <a:ea typeface="Aptos"/>
                <a:cs typeface="Aptos"/>
              </a:rPr>
              <a:t>Los números aleatorios se fijan para que el movimiento sea reproducible.</a:t>
            </a:r>
          </a:p>
        </p:txBody>
      </p:sp>
      <p:sp>
        <p:nvSpPr>
          <p:cNvPr id="4" name="route-table-cover">
            <a:extLst xmlns:a="http://schemas.openxmlformats.org/drawingml/2006/main">
              <a:ext uri="{FF2B5EF4-FFF2-40B4-BE49-F238E27FC236}">
                <a16:creationId xmlns:a16="http://schemas.microsoft.com/office/drawing/2014/main" id="{DDBC5C0C-2AE9-4AE2-9810-7EC026DB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0"/>
            <a:ext cx="1143000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FBF8F2"/>
            </a:solidFill>
            <a:prstDash val="solid"/>
          </a:ln>
        </p:spPr>
      </p:sp>
      <p:graphicFrame>
        <p:nvGraphicFramePr>
          <p:cNvPr id="13" name="route-table"/>
          <p:cNvGraphicFramePr/>
          <p:nvPr/>
        </p:nvGraphicFramePr>
        <p:xfrm>
          <a:off xmlns:a="http://schemas.openxmlformats.org/drawingml/2006/main" x="495300" y="2333625"/>
          <a:ext xmlns:a="http://schemas.openxmlformats.org/drawingml/2006/main" cx="1114425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2190750"/>
                <a:gridCol w="2190750"/>
                <a:gridCol w="3048000"/>
              </a:tblGrid>
              <a:tr h="6000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Etapa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x₁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x₂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f(x)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Agente Xᵢ(t)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1.010000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1.000000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2.020100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Alfa Xα(t)</a:t>
                      </a:r>
                    </a:p>
                  </a:txBody>
                  <a:tcPr marL="91440" marR="91440" marT="45720" marB="45720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1.000000</a:t>
                      </a:r>
                    </a:p>
                  </a:txBody>
                  <a:tcPr marL="91440" marR="91440" marT="45720" marB="45720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0.990000</a:t>
                      </a:r>
                    </a:p>
                  </a:txBody>
                  <a:tcPr marL="91440" marR="91440" marT="45720" marB="45720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1.980100</a:t>
                      </a:r>
                    </a:p>
                  </a:txBody>
                  <a:tcPr marL="91440" marR="91440" marT="45720" marB="45720">
                    <a:solidFill>
                      <a:srgbClr val="F2F4F1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Distancia al alfa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0.010000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0.010000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Nuevo Xᵢ(t+1)</a:t>
                      </a:r>
                    </a:p>
                  </a:txBody>
                  <a:tcPr marL="91440" marR="91440" marT="45720" marB="45720">
                    <a:solidFill>
                      <a:srgbClr val="D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0.998912</a:t>
                      </a:r>
                    </a:p>
                  </a:txBody>
                  <a:tcPr marL="91440" marR="91440" marT="45720" marB="45720">
                    <a:solidFill>
                      <a:srgbClr val="D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0.988912</a:t>
                      </a:r>
                    </a:p>
                  </a:txBody>
                  <a:tcPr marL="91440" marR="91440" marT="45720" marB="45720">
                    <a:solidFill>
                      <a:srgbClr val="DFF1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1.975772</a:t>
                      </a:r>
                    </a:p>
                  </a:txBody>
                  <a:tcPr marL="91440" marR="91440" marT="45720" marB="45720">
                    <a:solidFill>
                      <a:srgbClr val="DFF1F0"/>
                    </a:solidFill>
                  </a:tcPr>
                </a:tc>
              </a:tr>
            </a:tbl>
          </a:graphicData>
        </a:graphic>
      </p:graphicFrame>
      <p:sp>
        <p:nvSpPr>
          <p:cNvPr id="6" name="route-equation">
            <a:extLst xmlns:a="http://schemas.openxmlformats.org/drawingml/2006/main">
              <a:ext uri="{FF2B5EF4-FFF2-40B4-BE49-F238E27FC236}">
                <a16:creationId xmlns:a16="http://schemas.microsoft.com/office/drawing/2014/main" id="{89C8AF3D-A034-48CF-8DA2-82CDA37E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x₁′ = 1.00 − 0.1088·0.01     ·     x₂′ = 0.99 − 0.1088·0.01</a:t>
            </a:r>
          </a:p>
        </p:txBody>
      </p:sp>
      <p:sp>
        <p:nvSpPr>
          <p:cNvPr id="7" name="accent-9">
            <a:extLst xmlns:a="http://schemas.openxmlformats.org/drawingml/2006/main">
              <a:ext uri="{FF2B5EF4-FFF2-40B4-BE49-F238E27FC236}">
                <a16:creationId xmlns:a16="http://schemas.microsoft.com/office/drawing/2014/main" id="{F47F9A5B-14E5-48DF-B7D1-B459C859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9">
            <a:extLst xmlns:a="http://schemas.openxmlformats.org/drawingml/2006/main">
              <a:ext uri="{FF2B5EF4-FFF2-40B4-BE49-F238E27FC236}">
                <a16:creationId xmlns:a16="http://schemas.microsoft.com/office/drawing/2014/main" id="{EC81265F-AA16-4844-B432-D64543A8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PWO · RUTEO NUMÉRICO</a:t>
            </a:r>
          </a:p>
        </p:txBody>
      </p:sp>
    </p:spTree>
    <p:extLst>
      <p:ext uri="{BB962C8B-B14F-4D97-AF65-F5344CB8AC3E}">
        <p14:creationId xmlns:p14="http://schemas.microsoft.com/office/powerpoint/2010/main" val="15170388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4459592-E0B2-48CE-946D-E168E695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F0177D5-467E-4D9D-A030-9B4C63BD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La implementación oficial converge en Sphere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59FDC6FA-52BD-4A02-A2A5-086B9D67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9D117985-3A87-40B4-B8A5-5DA0F42E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95.2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C23F59FC-A9FF-406C-B0AB-884B3035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órdenes de
magnitud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B52E5DB0-58AA-4BF4-B740-336A403B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0A75E580-5583-4670-8ED4-1E04CD2E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EE1E561-C244-4202-850C-9CDBC8E8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semilla
preliminar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C2A64D58-7D5B-44DA-B68F-8683814E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779"/>
                </a:solidFill>
                <a:latin typeface="Aptos"/>
                <a:ea typeface="Aptos"/>
                <a:cs typeface="Aptos"/>
              </a:rPr>
              <a:t>Prueba controlada: d = 3 · 20 agentes · 100 iteraciones · semilla 20260728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385763" y="1254443"/>
          <a:ext xmlns:a="http://schemas.openxmlformats.org/drawingml/2006/main" cx="5534025" cy="502443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17a607c32247d9"/>
          </a:graphicData>
        </a:graphic>
      </p:graphicFrame>
      <p:sp>
        <p:nvSpPr>
          <p:cNvPr id="11" name="accent-10">
            <a:extLst xmlns:a="http://schemas.openxmlformats.org/drawingml/2006/main">
              <a:ext uri="{FF2B5EF4-FFF2-40B4-BE49-F238E27FC236}">
                <a16:creationId xmlns:a16="http://schemas.microsoft.com/office/drawing/2014/main" id="{5CD58D75-227F-41F6-AADF-4031E5D9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ction-10">
            <a:extLst xmlns:a="http://schemas.openxmlformats.org/drawingml/2006/main">
              <a:ext uri="{FF2B5EF4-FFF2-40B4-BE49-F238E27FC236}">
                <a16:creationId xmlns:a16="http://schemas.microsoft.com/office/drawing/2014/main" id="{005CC79D-5FB2-4DCD-A290-6700EDAD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PWO · VERIFICACIÓN PRELIMINAR</a:t>
            </a:r>
          </a:p>
        </p:txBody>
      </p:sp>
    </p:spTree>
    <p:extLst>
      <p:ext uri="{BB962C8B-B14F-4D97-AF65-F5344CB8AC3E}">
        <p14:creationId xmlns:p14="http://schemas.microsoft.com/office/powerpoint/2010/main" val="4388560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039D5C8-A3C1-414E-AE3C-02CAC921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576D286-5A02-4EA0-9C39-7AF7F62D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Discrepancias que afectan la reproducibilidad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5AACF87C-AF8E-422E-A127-E16CCA14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Las diferencias no se corrigen silenciosamente: se documentan y se prueban como variantes.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779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" name="differences-table-cover">
            <a:extLst xmlns:a="http://schemas.openxmlformats.org/drawingml/2006/main">
              <a:ext uri="{FF2B5EF4-FFF2-40B4-BE49-F238E27FC236}">
                <a16:creationId xmlns:a16="http://schemas.microsoft.com/office/drawing/2014/main" id="{6A1A1DD3-BEC9-4C10-B29D-19575372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24075"/>
            <a:ext cx="11430000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FBF8F2"/>
            </a:solidFill>
            <a:prstDash val="solid"/>
          </a:ln>
        </p:spPr>
      </p:sp>
      <p:graphicFrame>
        <p:nvGraphicFramePr>
          <p:cNvPr id="12" name="differences-table"/>
          <p:cNvGraphicFramePr/>
          <p:nvPr/>
        </p:nvGraphicFramePr>
        <p:xfrm>
          <a:off xmlns:a="http://schemas.openxmlformats.org/drawingml/2006/main" x="400050" y="2143125"/>
          <a:ext xmlns:a="http://schemas.openxmlformats.org/drawingml/2006/main" cx="11391900" cy="3857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2952750"/>
                <a:gridCol w="3190875"/>
                <a:gridCol w="3009900"/>
              </a:tblGrid>
              <a:tr h="7715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Punto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Artículo / pseudocódigo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Repositorio oficial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Criterio de trabajo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Umbral 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Reutiliza r₄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Python usa tres sorteos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Registrar ambas variantes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a(T)</a:t>
                      </a:r>
                    </a:p>
                  </a:txBody>
                  <a:tcPr marL="91440" marR="91440" marT="45720" marB="45720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Decrece hasta 0</a:t>
                      </a:r>
                    </a:p>
                  </a:txBody>
                  <a:tcPr marL="91440" marR="91440" marT="45720" marB="45720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Python evita 0; MATLAB no</a:t>
                      </a:r>
                    </a:p>
                  </a:txBody>
                  <a:tcPr marL="91440" marR="91440" marT="45720" marB="45720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Prevenir singularidad</a:t>
                      </a:r>
                    </a:p>
                  </a:txBody>
                  <a:tcPr marL="91440" marR="91440" marT="45720" marB="45720">
                    <a:solidFill>
                      <a:srgbClr val="F2F4F1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Evaluación final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Evalúa tras mover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Último movimiento no se evalúa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Evaluar antes de retornar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Bucle por j</a:t>
                      </a:r>
                    </a:p>
                  </a:txBody>
                  <a:tcPr marL="91440" marR="91440" marT="45720" marB="45720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Mezcla escalar y vector</a:t>
                      </a:r>
                    </a:p>
                  </a:txBody>
                  <a:tcPr marL="91440" marR="91440" marT="45720" marB="45720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Escrituras vectoriales dentro de j</a:t>
                      </a:r>
                    </a:p>
                  </a:txBody>
                  <a:tcPr marL="91440" marR="91440" marT="45720" marB="45720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24D"/>
                          </a:solidFill>
                          <a:latin typeface="Aptos"/>
                          <a:ea typeface="Aptos"/>
                          <a:cs typeface="Aptos"/>
                        </a:rPr>
                        <a:t>Crear pruebas de asignación</a:t>
                      </a:r>
                    </a:p>
                  </a:txBody>
                  <a:tcPr marL="91440" marR="91440" marT="45720" marB="45720">
                    <a:solidFill>
                      <a:srgbClr val="F2F4F1"/>
                    </a:solidFill>
                  </a:tcPr>
                </a:tc>
              </a:tr>
            </a:tbl>
          </a:graphicData>
        </a:graphic>
      </p:graphicFrame>
      <p:sp>
        <p:nvSpPr>
          <p:cNvPr id="6" name="accent-11">
            <a:extLst xmlns:a="http://schemas.openxmlformats.org/drawingml/2006/main">
              <a:ext uri="{FF2B5EF4-FFF2-40B4-BE49-F238E27FC236}">
                <a16:creationId xmlns:a16="http://schemas.microsoft.com/office/drawing/2014/main" id="{09F442F2-0D29-44F6-A3CE-A5D6540B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ction-11">
            <a:extLst xmlns:a="http://schemas.openxmlformats.org/drawingml/2006/main">
              <a:ext uri="{FF2B5EF4-FFF2-40B4-BE49-F238E27FC236}">
                <a16:creationId xmlns:a16="http://schemas.microsoft.com/office/drawing/2014/main" id="{4011CE45-5EF8-481E-B2D1-6FE84600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62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7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779"/>
                </a:solidFill>
                <a:latin typeface="Aptos"/>
                <a:ea typeface="Aptos"/>
                <a:cs typeface="Aptos"/>
              </a:rPr>
              <a:t>PWO · REPRODUCIBILIDAD</a:t>
            </a:r>
          </a:p>
        </p:txBody>
      </p:sp>
    </p:spTree>
    <p:extLst>
      <p:ext uri="{BB962C8B-B14F-4D97-AF65-F5344CB8AC3E}">
        <p14:creationId xmlns:p14="http://schemas.microsoft.com/office/powerpoint/2010/main" val="4704695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E2F8C6E1-5183-4475-A17F-F86AD4DE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Fijar la dinámica real
antes de binarizar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206D274-6092-4589-BB12-F70FB531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4572E"/>
                </a:solidFill>
                <a:latin typeface="Aptos"/>
                <a:ea typeface="Aptos"/>
                <a:cs typeface="Aptos"/>
              </a:rPr>
              <a:t>1 · estabilizar la versión continua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2 · reproducir benchmarks con múltiples semillas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3 · diseñar y evaluar la binarización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72D4CEA-1344-4BCD-982E-88B63A64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SIGUIENTE ETAPA</a:t>
            </a:r>
          </a:p>
        </p:txBody>
      </p:sp>
      <p:sp>
        <p:nvSpPr>
          <p:cNvPr id="4" name="final-callout">
            <a:extLst xmlns:a="http://schemas.openxmlformats.org/drawingml/2006/main">
              <a:ext uri="{FF2B5EF4-FFF2-40B4-BE49-F238E27FC236}">
                <a16:creationId xmlns:a16="http://schemas.microsoft.com/office/drawing/2014/main" id="{001201FF-5B17-4105-9F99-31FD6373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4785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FF1F0"/>
          </a:solidFill>
          <a:ln xmlns:a="http://schemas.openxmlformats.org/drawingml/2006/main" w="28575">
            <a:solidFill>
              <a:srgbClr val="087E8B"/>
            </a:solidFill>
            <a:prstDash val="solid"/>
          </a:ln>
        </p:spPr>
      </p:sp>
      <p:sp>
        <p:nvSpPr>
          <p:cNvPr id="5" name="final-callout-text">
            <a:extLst xmlns:a="http://schemas.openxmlformats.org/drawingml/2006/main">
              <a:ext uri="{FF2B5EF4-FFF2-40B4-BE49-F238E27FC236}">
                <a16:creationId xmlns:a16="http://schemas.microsoft.com/office/drawing/2014/main" id="{2AC6628E-3085-4505-A497-8E977E89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095500"/>
            <a:ext cx="1028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X(t)</a:t>
            </a:r>
          </a:p>
          <a:p xmlns:a="http://schemas.openxmlformats.org/drawingml/2006/main">
            <a:pPr algn="ctr">
              <a:defRPr sz="1875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→</a:t>
            </a:r>
          </a:p>
          <a:p xmlns:a="http://schemas.openxmlformats.org/drawingml/2006/main">
            <a:pPr algn="ctr">
              <a:defRPr sz="1875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X(t+1)</a:t>
            </a:r>
          </a:p>
        </p:txBody>
      </p:sp>
    </p:spTree>
    <p:extLst>
      <p:ext uri="{BB962C8B-B14F-4D97-AF65-F5344CB8AC3E}">
        <p14:creationId xmlns:p14="http://schemas.microsoft.com/office/powerpoint/2010/main" val="1268770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2026-07-29T04:58:45.8470000Z</dcterms:created>
  <dcterms:modified xsi:type="dcterms:W3CDTF">2026-07-29T04:58:45.8470000Z</dcterms:modified>
</coreProperties>
</file>
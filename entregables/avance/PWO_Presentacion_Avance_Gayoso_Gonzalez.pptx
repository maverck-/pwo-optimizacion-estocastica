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fee5543e0d4f26" /><Relationship Type="http://schemas.openxmlformats.org/officeDocument/2006/relationships/extended-properties" Target="/docProps/app.xml" Id="Rf74ce0efc34d45be" /><Relationship Type="http://schemas.openxmlformats.org/officeDocument/2006/relationships/officeDocument" Target="/ppt/presentation.xml" Id="Raa262c3ad6fd4a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3ebc3da10d4ed5"/>
  </p:sldMasterIdLst>
  <p:notesMasterIdLst>
    <p:notesMasterId xmlns:r="http://schemas.openxmlformats.org/officeDocument/2006/relationships" r:id="R288451aee8734f96"/>
  </p:notesMasterIdLst>
  <p:sldIdLst>
    <p:sldId xmlns:r="http://schemas.openxmlformats.org/officeDocument/2006/relationships" id="256" r:id="R571ec3db39844a87"/>
    <p:sldId xmlns:r="http://schemas.openxmlformats.org/officeDocument/2006/relationships" id="257" r:id="R601aeeb00aad4525"/>
    <p:sldId xmlns:r="http://schemas.openxmlformats.org/officeDocument/2006/relationships" id="258" r:id="R98ff83345cd643ca"/>
    <p:sldId xmlns:r="http://schemas.openxmlformats.org/officeDocument/2006/relationships" id="259" r:id="Rf0d50164a27f4b93"/>
    <p:sldId xmlns:r="http://schemas.openxmlformats.org/officeDocument/2006/relationships" id="260" r:id="R1481784faf4d4a20"/>
    <p:sldId xmlns:r="http://schemas.openxmlformats.org/officeDocument/2006/relationships" id="261" r:id="R1187c8d3834846e9"/>
    <p:sldId xmlns:r="http://schemas.openxmlformats.org/officeDocument/2006/relationships" id="262" r:id="Rdbb5f307f23242d0"/>
    <p:sldId xmlns:r="http://schemas.openxmlformats.org/officeDocument/2006/relationships" id="263" r:id="Re6fde380f2cb4520"/>
    <p:sldId xmlns:r="http://schemas.openxmlformats.org/officeDocument/2006/relationships" id="264" r:id="R072a0f76d18241ee"/>
    <p:sldId xmlns:r="http://schemas.openxmlformats.org/officeDocument/2006/relationships" id="265" r:id="Rec580186ecc24e16"/>
    <p:sldId xmlns:r="http://schemas.openxmlformats.org/officeDocument/2006/relationships" id="266" r:id="R8d11566d22fa4bc3"/>
    <p:sldId xmlns:r="http://schemas.openxmlformats.org/officeDocument/2006/relationships" id="267" r:id="Rcb1fa3e633ac45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94eb0505be49bd" /><Relationship Type="http://schemas.openxmlformats.org/officeDocument/2006/relationships/slideMaster" Target="/ppt/slideMasters/slideMaster1.xml" Id="R4c3ebc3da10d4ed5" /><Relationship Type="http://schemas.openxmlformats.org/officeDocument/2006/relationships/notesMaster" Target="/ppt/notesMasters/notesMaster1.xml" Id="R288451aee8734f96" /><Relationship Type="http://schemas.openxmlformats.org/officeDocument/2006/relationships/presProps" Target="/ppt/presProps.xml" Id="Ra40002ab11864eb7" /><Relationship Type="http://schemas.openxmlformats.org/officeDocument/2006/relationships/tableStyles" Target="/ppt/tableStyles.xml" Id="Rb9a1cfb8058f4885" /><Relationship Type="http://schemas.openxmlformats.org/officeDocument/2006/relationships/slide" Target="/ppt/slides/slide1.xml" Id="R571ec3db39844a87" /><Relationship Type="http://schemas.openxmlformats.org/officeDocument/2006/relationships/slide" Target="/ppt/slides/slide2.xml" Id="R601aeeb00aad4525" /><Relationship Type="http://schemas.openxmlformats.org/officeDocument/2006/relationships/slide" Target="/ppt/slides/slide3.xml" Id="R98ff83345cd643ca" /><Relationship Type="http://schemas.openxmlformats.org/officeDocument/2006/relationships/slide" Target="/ppt/slides/slide4.xml" Id="Rf0d50164a27f4b93" /><Relationship Type="http://schemas.openxmlformats.org/officeDocument/2006/relationships/slide" Target="/ppt/slides/slide5.xml" Id="R1481784faf4d4a20" /><Relationship Type="http://schemas.openxmlformats.org/officeDocument/2006/relationships/slide" Target="/ppt/slides/slide6.xml" Id="R1187c8d3834846e9" /><Relationship Type="http://schemas.openxmlformats.org/officeDocument/2006/relationships/slide" Target="/ppt/slides/slide7.xml" Id="Rdbb5f307f23242d0" /><Relationship Type="http://schemas.openxmlformats.org/officeDocument/2006/relationships/slide" Target="/ppt/slides/slide8.xml" Id="Re6fde380f2cb4520" /><Relationship Type="http://schemas.openxmlformats.org/officeDocument/2006/relationships/slide" Target="/ppt/slides/slide9.xml" Id="R072a0f76d18241ee" /><Relationship Type="http://schemas.openxmlformats.org/officeDocument/2006/relationships/slide" Target="/ppt/slides/slide10.xml" Id="Rec580186ecc24e16" /><Relationship Type="http://schemas.openxmlformats.org/officeDocument/2006/relationships/slide" Target="/ppt/slides/slide11.xml" Id="R8d11566d22fa4bc3" /><Relationship Type="http://schemas.openxmlformats.org/officeDocument/2006/relationships/slide" Target="/ppt/slides/slide12.xml" Id="Rcb1fa3e633ac45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763cb20d0245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84d4e2b1264e2e" /><Relationship Type="http://schemas.openxmlformats.org/officeDocument/2006/relationships/notesMaster" Target="/ppt/notesMasters/notesMaster1.xml" Id="Rbc3fda3cb4144d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61812cbcdf4821" /><Relationship Type="http://schemas.openxmlformats.org/officeDocument/2006/relationships/notesMaster" Target="/ppt/notesMasters/notesMaster1.xml" Id="R1df252b974fd48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caa4d7a1a44d04" /><Relationship Type="http://schemas.openxmlformats.org/officeDocument/2006/relationships/notesMaster" Target="/ppt/notesMasters/notesMaster1.xml" Id="R75a4e91c9de94d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1f24ae608a4278" /><Relationship Type="http://schemas.openxmlformats.org/officeDocument/2006/relationships/notesMaster" Target="/ppt/notesMasters/notesMaster1.xml" Id="Rc56a66efb1cb4c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604b0c70ce480f" /><Relationship Type="http://schemas.openxmlformats.org/officeDocument/2006/relationships/notesMaster" Target="/ppt/notesMasters/notesMaster1.xml" Id="R6ebcd8c230e64c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2c65830861471e" /><Relationship Type="http://schemas.openxmlformats.org/officeDocument/2006/relationships/notesMaster" Target="/ppt/notesMasters/notesMaster1.xml" Id="Rb06bb7480ba549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37040cc2a14047" /><Relationship Type="http://schemas.openxmlformats.org/officeDocument/2006/relationships/notesMaster" Target="/ppt/notesMasters/notesMaster1.xml" Id="Re3c1733e1ed54d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32615b72a24421" /><Relationship Type="http://schemas.openxmlformats.org/officeDocument/2006/relationships/notesMaster" Target="/ppt/notesMasters/notesMaster1.xml" Id="R8c794a3523f744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58ca983302445e6" /><Relationship Type="http://schemas.openxmlformats.org/officeDocument/2006/relationships/notesMaster" Target="/ppt/notesMasters/notesMaster1.xml" Id="R129f9f90e889406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be7bbb65284d24" /><Relationship Type="http://schemas.openxmlformats.org/officeDocument/2006/relationships/notesMaster" Target="/ppt/notesMasters/notesMaster1.xml" Id="R170d804e34eb4d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6f7f6b91ec409a" /><Relationship Type="http://schemas.openxmlformats.org/officeDocument/2006/relationships/notesMaster" Target="/ppt/notesMasters/notesMaster1.xml" Id="R7a975cac47a14b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6bcecb9b6a4c1b" /><Relationship Type="http://schemas.openxmlformats.org/officeDocument/2006/relationships/notesMaster" Target="/ppt/notesMasters/notesMaster1.xml" Id="R4501d43238504c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con la pregunta guía: ¿qué valor recibe una variable de decisión en la siguiente iteración? Delimitar que este avance estudia el dominio real y reserva la binarización para el informe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Sheikhi, S. (2026). Painted Wolf Optimization. DOI: 10.32604/cmc.2026.077788.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Traducir la metáfora: mover un lobo significa construir un nuevo vector. La función objetivo evalúa el vector completo y permite comparar asignaciones.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secciones 2.1–2.5.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la inicialización ya asigna un valor a cada variable. Luego se evalúa la población, se conserva el alfa y se aplican límites por saturación antes de evaluar.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Algorithm 1.</a:t>
            </a:r>
          </a:p>
          <a:p xmlns:a="http://schemas.openxmlformats.org/drawingml/2006/main">
            <a:r>
              <a:t>- Repositorio oficial: Python/PWO.py y Matlab/PWO.m.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la secuencia a, influencia del alfa, votos y umbral. Recalcar que la comparación entre R y H es global para la iteración y solamente elige la ecuación de actualización.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ecuaciones 1–3.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el mapa de rutas. Las dos estrategias de exploración se eligen con probabilidad 0.5; la explotación es la tercera regla. Cada rama construye Xᵢ(t+1) con información distinta.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ecuaciones 4–9.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esta es la rama más particular: una distancia calculada en la dimensión j produce un escalar que el paper y el código asignan al vector. Señalar que la escritura ocurre dentro del ciclo de dimensiones.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ecuaciones 4–5.</a:t>
            </a:r>
          </a:p>
          <a:p xmlns:a="http://schemas.openxmlformats.org/drawingml/2006/main">
            <a:r>
              <a:t>- Repositorio oficial: Python/PWO.py.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Separar la ecuación en dos componentes: alfa menos media como dirección global y distancia absoluta ponderada por R como ajuste particular de cada agente.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ecuación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Recorrer D alfa, A1 y A2. La última ecuación responde directamente la pregunta del avance: qué valor recibe Xᵢ,ⱼ en la iteración siguiente.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ecuaciones 7–9.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Desarrollar las dos asignaciones escalares. Ambas distancias son 0.01; al ponderarlas por A2 y restarlas del alfa se obtiene el nuevo vector. El fitness mejora y no se requiere reparación de dominio.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Cálculo propio reproducible a partir de Sheikhi (2026), ecuaciones 7–9.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ejecución redujo el mejor fitness desde 4281.3964 hasta 2.519815×10⁻⁹². Aclarar que es una verificación de funcionamiento, no una reproducción estadística ni una prueba de superioridad.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Repositorio oficial: Python/PWO.py.</a:t>
            </a:r>
          </a:p>
          <a:p xmlns:a="http://schemas.openxmlformats.org/drawingml/2006/main">
            <a:r>
              <a:t>- Ejecución local controlada, semilla NumPy 20260728.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Destacar cuatro discrepancias que afectan la reproducción. Para el avance, el artículo y el código son fuentes distintas; sus diferencias se conservarán como decisiones experimentales trazables.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Sheikhi (2026), Algorithm 1 y ecuaciones 1–9.</a:t>
            </a:r>
          </a:p>
          <a:p xmlns:a="http://schemas.openxmlformats.org/drawingml/2006/main">
            <a:r>
              <a:t>- Repositorio oficial: Python/PWO.py y Matlab/PWO.m.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el resultado del avance: representación, rally y tres ecuaciones formalizadas; ruteo y ejecución preliminar listos; discrepancias identificadas. La binarización se construirá sobre una dinámica continua ya estabilizada.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Síntesis propia basada en Sheikhi (2026).</a:t>
            </a:r>
          </a:p>
          <a:p xmlns:a="http://schemas.openxmlformats.org/drawingml/2006/main">
            <a:r>
              <a:t>- Plan de trabajo del proyecto PWO.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2dca29eeba4c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174eb8d208408f" /><Relationship Type="http://schemas.openxmlformats.org/officeDocument/2006/relationships/slideLayout" Target="/ppt/slideLayouts/slideLayout1.xml" Id="R6a63fc18c42849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63fc18c42849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c770337614802" /><Relationship Type="http://schemas.openxmlformats.org/officeDocument/2006/relationships/notesSlide" Target="/ppt/notesSlides/notesSlide1.xml" Id="R93860b9768284a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83335549a44fc" /><Relationship Type="http://schemas.openxmlformats.org/officeDocument/2006/relationships/notesSlide" Target="/ppt/notesSlides/notesSlide2.xml" Id="Rce7223e5e08745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414a6998f0493d" /><Relationship Type="http://schemas.openxmlformats.org/officeDocument/2006/relationships/notesSlide" Target="/ppt/notesSlides/notesSlide3.xml" Id="Rb2547049fec34b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a19b0ad624fa1" /><Relationship Type="http://schemas.openxmlformats.org/officeDocument/2006/relationships/notesSlide" Target="/ppt/notesSlides/notesSlide4.xml" Id="R78b63741202e4a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f8a1b806d49db" /><Relationship Type="http://schemas.openxmlformats.org/officeDocument/2006/relationships/notesSlide" Target="/ppt/notesSlides/notesSlide5.xml" Id="Ra3145bed382c42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77f44969414b10" /><Relationship Type="http://schemas.openxmlformats.org/officeDocument/2006/relationships/notesSlide" Target="/ppt/notesSlides/notesSlide6.xml" Id="Reaa28dd97c7545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f83c0692b34659" /><Relationship Type="http://schemas.openxmlformats.org/officeDocument/2006/relationships/notesSlide" Target="/ppt/notesSlides/notesSlide7.xml" Id="R90e0c2d2af9145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e6a8aadce493d" /><Relationship Type="http://schemas.openxmlformats.org/officeDocument/2006/relationships/notesSlide" Target="/ppt/notesSlides/notesSlide8.xml" Id="R6012cefd1d4b48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97a4471b64c75" /><Relationship Type="http://schemas.openxmlformats.org/officeDocument/2006/relationships/notesSlide" Target="/ppt/notesSlides/notesSlide9.xml" Id="R6f0e8cc115fe43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b08bb42084208" /><Relationship Type="http://schemas.openxmlformats.org/officeDocument/2006/relationships/chart" Target="/ppt/slides/charts/chart1.xml" Id="R16d43063bf664863" /><Relationship Type="http://schemas.openxmlformats.org/officeDocument/2006/relationships/notesSlide" Target="/ppt/notesSlides/notesSlide10.xml" Id="R1c3e94bc26ee46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fbda6b8a14d1b" /><Relationship Type="http://schemas.openxmlformats.org/officeDocument/2006/relationships/notesSlide" Target="/ppt/notesSlides/notesSlide11.xml" Id="Rd6518a879e084e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20d71711245a9" /><Relationship Type="http://schemas.openxmlformats.org/officeDocument/2006/relationships/notesSlide" Target="/ppt/notesSlides/notesSlide12.xml" Id="Rd75c5a55356e4e9e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350" b="1">
                <a:solidFill>
                  <a:srgbClr val="17324D"/>
                </a:solidFill>
              </a:rPr>
              <a:t>log₁₀ del mejor fitness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 b="1">
              <a:solidFill>
                <a:srgbClr val="17324D"/>
              </a:solidFill>
            </a:defRPr>
          </a:pPr>
        </a:p>
      </c:txPr>
    </c:title>
    <c:plotArea>
      <c:lineChart>
        <c:grouping val="standard"/>
        <c:ser>
          <c:idx val="0"/>
          <c:order val="0"/>
          <c:tx>
            <c:v>PWO oficial</c:v>
          </c:tx>
          <c:spPr>
            <a:ln xmlns:a="http://schemas.openxmlformats.org/drawingml/2006/main" w="38100">
              <a:solidFill>
                <a:srgbClr val="087E8B"/>
              </a:solidFill>
              <a:prstDash val="solid"/>
            </a:ln>
          </c:spPr>
          <c:marker>
            <c:symbol val="circle"/>
            <c:size val="7"/>
          </c:marker>
          <c:cat>
            <c:numLit>
              <c:formatCode>General</c:formatCode>
              <c:ptCount val="6"/>
              <c:pt idx="0">
                <c:v>1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</c:numLit>
          </c:cat>
          <c:val>
            <c:numLit>
              <c:formatCode>General</c:formatCode>
              <c:ptCount val="6"/>
              <c:pt idx="0">
                <c:v>3.632</c:v>
              </c:pt>
              <c:pt idx="1">
                <c:v>-12.301</c:v>
              </c:pt>
              <c:pt idx="2">
                <c:v>-30.948</c:v>
              </c:pt>
              <c:pt idx="3">
                <c:v>-50.847</c:v>
              </c:pt>
              <c:pt idx="4">
                <c:v>-68.389</c:v>
              </c:pt>
              <c:pt idx="5">
                <c:v>-91.599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17324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Iteración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E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26779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ED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log₁₀(f*)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26779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3-1">
            <a:extLst xmlns:a="http://schemas.openxmlformats.org/drawingml/2006/main">
              <a:ext uri="{FF2B5EF4-FFF2-40B4-BE49-F238E27FC236}">
                <a16:creationId xmlns:a16="http://schemas.microsoft.com/office/drawing/2014/main" id="{6FCB7AE2-D098-4B19-9ADE-F6093629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Painted Wolf
Optimization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C342B79D-9E3F-4021-985E-8D2985DF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Movimiento de variables en ℝᵈ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Maverick Gayoso · Rogelio González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26779"/>
                </a:solidFill>
                <a:latin typeface="Aptos"/>
                <a:ea typeface="Aptos"/>
                <a:cs typeface="Aptos"/>
              </a:rPr>
              <a:t>MII902 Optimización Estocástica · 2026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78C638F-C30A-48F4-81A2-8E0C2A9D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INFORME DE AVANCE</a:t>
            </a:r>
          </a:p>
        </p:txBody>
      </p:sp>
      <p:sp>
        <p:nvSpPr>
          <p:cNvPr id="4" name="cover-alpha">
            <a:extLst xmlns:a="http://schemas.openxmlformats.org/drawingml/2006/main">
              <a:ext uri="{FF2B5EF4-FFF2-40B4-BE49-F238E27FC236}">
                <a16:creationId xmlns:a16="http://schemas.microsoft.com/office/drawing/2014/main" id="{2220395F-DBE0-4D5E-B658-71628704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47850"/>
            <a:ext cx="1428750" cy="1428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E8DF"/>
          </a:solidFill>
          <a:ln xmlns:a="http://schemas.openxmlformats.org/drawingml/2006/main" w="28575">
            <a:solidFill>
              <a:srgbClr val="E4572E"/>
            </a:solidFill>
            <a:prstDash val="solid"/>
          </a:ln>
        </p:spPr>
      </p:sp>
      <p:sp>
        <p:nvSpPr>
          <p:cNvPr id="5" name="cover-agent-1">
            <a:extLst xmlns:a="http://schemas.openxmlformats.org/drawingml/2006/main">
              <a:ext uri="{FF2B5EF4-FFF2-40B4-BE49-F238E27FC236}">
                <a16:creationId xmlns:a16="http://schemas.microsoft.com/office/drawing/2014/main" id="{9C0B1F18-4B6D-4BF5-8A47-137358A6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F1F0"/>
          </a:solidFill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6" name="cover-agent-2">
            <a:extLst xmlns:a="http://schemas.openxmlformats.org/drawingml/2006/main">
              <a:ext uri="{FF2B5EF4-FFF2-40B4-BE49-F238E27FC236}">
                <a16:creationId xmlns:a16="http://schemas.microsoft.com/office/drawing/2014/main" id="{C01166C7-38F5-4A09-A60A-58786E57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4767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541"/>
          </a:solidFill>
          <a:ln xmlns:a="http://schemas.openxmlformats.org/drawingml/2006/main" w="9525">
            <a:solidFill>
              <a:srgbClr val="F2A541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1462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C4275C3-2BC2-42D4-8602-A8A35F45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0A444EBD-9108-4608-8F14-3B43A3AD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Cada lobo es una solución; cada dimensión, una variable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0D377C9-9F0A-4395-9C25-B1F94347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Representación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Xᵢ(t) = [Xᵢ,₁(t), …, Xᵢ,d(t)]
El vector contiene una asignación completa de valores reales.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01C00F5A-06B0-4BAF-8047-1D1401BB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Lectura operacional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  → agente o solución
j  → variable de decisión
t  → iteración
f(Xᵢ) → calidad de la asignación</a:t>
            </a:r>
          </a:p>
        </p:txBody>
      </p:sp>
      <p:sp>
        <p:nvSpPr>
          <p:cNvPr id="5" name="accent-2">
            <a:extLst xmlns:a="http://schemas.openxmlformats.org/drawingml/2006/main">
              <a:ext uri="{FF2B5EF4-FFF2-40B4-BE49-F238E27FC236}">
                <a16:creationId xmlns:a16="http://schemas.microsoft.com/office/drawing/2014/main" id="{404767FC-A4B2-4C19-BC0A-07ACBA79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2">
            <a:extLst xmlns:a="http://schemas.openxmlformats.org/drawingml/2006/main">
              <a:ext uri="{FF2B5EF4-FFF2-40B4-BE49-F238E27FC236}">
                <a16:creationId xmlns:a16="http://schemas.microsoft.com/office/drawing/2014/main" id="{C8AA9148-F1A2-44F2-8AD4-9374FDE2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AVANCE</a:t>
            </a:r>
          </a:p>
        </p:txBody>
      </p:sp>
    </p:spTree>
    <p:extLst>
      <p:ext uri="{BB962C8B-B14F-4D97-AF65-F5344CB8AC3E}">
        <p14:creationId xmlns:p14="http://schemas.microsoft.com/office/powerpoint/2010/main" val="12079724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71C05C56-D661-40C3-B55E-5DA526EC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64C78C5C-05C6-4010-80E3-93432F98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La primera asignación respeta el dominio de cada variable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A8BA45C1-3FBB-4757-9C04-3B1FFE4F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D6E709A-5A9F-45FB-BDAB-822BF864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4B7D05D2-1FD1-4D11-B35C-C5F38D3C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843BA257-543B-4A92-A4BF-D947D19C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1 · GENERAR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13901217-3DF3-4A3B-A51D-4E52C8BF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2 · EVALUAR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1B000218-1A21-4C38-BE9D-819D0956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3 · CONSERVAR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54090E36-C7F7-437D-A82A-127B0CDC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Calcular fitness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Se evalúa f(Xᵢ) para los N agentes.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519B8602-1D95-45C7-8B01-8545227A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Inicializar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Xᵢ,ⱼ(0) = lbⱼ + uᵢ,ⱼ(ubⱼ − lbⱼ)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4733E195-FE0E-410E-8BD6-6C556CE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Elegir alfa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Xα es el mejor vector observado hasta el momento.</a:t>
            </a:r>
          </a:p>
        </p:txBody>
      </p:sp>
      <p:sp>
        <p:nvSpPr>
          <p:cNvPr id="13" name="accent-3">
            <a:extLst xmlns:a="http://schemas.openxmlformats.org/drawingml/2006/main">
              <a:ext uri="{FF2B5EF4-FFF2-40B4-BE49-F238E27FC236}">
                <a16:creationId xmlns:a16="http://schemas.microsoft.com/office/drawing/2014/main" id="{9B824C6F-E7EF-42BF-BC26-0E8FA99B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ection-3">
            <a:extLst xmlns:a="http://schemas.openxmlformats.org/drawingml/2006/main">
              <a:ext uri="{FF2B5EF4-FFF2-40B4-BE49-F238E27FC236}">
                <a16:creationId xmlns:a16="http://schemas.microsoft.com/office/drawing/2014/main" id="{40E4235B-3A57-4408-99BC-836AFAAE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AVANCE</a:t>
            </a:r>
          </a:p>
        </p:txBody>
      </p:sp>
      <p:sp>
        <p:nvSpPr>
          <p:cNvPr id="15" name="domain-note">
            <a:extLst xmlns:a="http://schemas.openxmlformats.org/drawingml/2006/main">
              <a:ext uri="{FF2B5EF4-FFF2-40B4-BE49-F238E27FC236}">
                <a16:creationId xmlns:a16="http://schemas.microsoft.com/office/drawing/2014/main" id="{36687155-19DB-4421-947D-5A282B24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4572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Si una variable sale del intervalo, el código la satura en [lbⱼ, ubⱼ].</a:t>
            </a:r>
          </a:p>
        </p:txBody>
      </p:sp>
    </p:spTree>
    <p:extLst>
      <p:ext uri="{BB962C8B-B14F-4D97-AF65-F5344CB8AC3E}">
        <p14:creationId xmlns:p14="http://schemas.microsoft.com/office/powerpoint/2010/main" val="2703726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2D413B96-12CB-446E-B49A-88DF9447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27EDFCB-D196-45CD-830B-41427023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El rally decide qué ecuación moverá a la población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FD8BA2B8-4998-4D65-9C42-9D78A2F4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Señales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a(t) = 2(1 − t/T)
L(t) = |0.04 / a(t)|
Cada agente cuyo fitness satisface la condición aporta un voto de 0.04 a R(t).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98B5DCCF-B67B-401C-9807-96CF07D9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Decisión global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R(t) &lt; H(t)  →  EXPLORACIÓN
R(t) ≥ H(t)  →  EXPLOTACIÓN
El rally selecciona la regla; todavía no cambia variables.</a:t>
            </a:r>
          </a:p>
        </p:txBody>
      </p:sp>
      <p:sp>
        <p:nvSpPr>
          <p:cNvPr id="5" name="accent-4">
            <a:extLst xmlns:a="http://schemas.openxmlformats.org/drawingml/2006/main">
              <a:ext uri="{FF2B5EF4-FFF2-40B4-BE49-F238E27FC236}">
                <a16:creationId xmlns:a16="http://schemas.microsoft.com/office/drawing/2014/main" id="{2CC80433-EC0A-4991-B2A0-5E5676F8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4">
            <a:extLst xmlns:a="http://schemas.openxmlformats.org/drawingml/2006/main">
              <a:ext uri="{FF2B5EF4-FFF2-40B4-BE49-F238E27FC236}">
                <a16:creationId xmlns:a16="http://schemas.microsoft.com/office/drawing/2014/main" id="{AD85DE79-7756-4DDD-AE28-B94AD26D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AVANCE</a:t>
            </a:r>
          </a:p>
        </p:txBody>
      </p:sp>
    </p:spTree>
    <p:extLst>
      <p:ext uri="{BB962C8B-B14F-4D97-AF65-F5344CB8AC3E}">
        <p14:creationId xmlns:p14="http://schemas.microsoft.com/office/powerpoint/2010/main" val="8856667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5881EEF8-9144-4612-9791-A6D21517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D26A893-A3EB-4B25-9D33-F587F41F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Una decisión global activa una de tres asignaciones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E149DAFF-66CB-4CA9-92EE-1984A678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Exploración 1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Seguir una dimensión de un agente aleatorio.
Actualización escalar → vector.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87A638A1-F59F-4AE6-A129-B48B7485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Explotación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Asignar cada dimensión respecto del valor correspondiente del alfa.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C09B8643-FA63-4371-9046-538B86C1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Exploración 2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Combinar alfa, media poblacional y distancia individual.</a:t>
            </a:r>
          </a:p>
        </p:txBody>
      </p:sp>
      <p:sp>
        <p:nvSpPr>
          <p:cNvPr id="6" name="accent-5">
            <a:extLst xmlns:a="http://schemas.openxmlformats.org/drawingml/2006/main">
              <a:ext uri="{FF2B5EF4-FFF2-40B4-BE49-F238E27FC236}">
                <a16:creationId xmlns:a16="http://schemas.microsoft.com/office/drawing/2014/main" id="{603552BD-EA5D-44AC-AA62-C754DE56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ection-5">
            <a:extLst xmlns:a="http://schemas.openxmlformats.org/drawingml/2006/main">
              <a:ext uri="{FF2B5EF4-FFF2-40B4-BE49-F238E27FC236}">
                <a16:creationId xmlns:a16="http://schemas.microsoft.com/office/drawing/2014/main" id="{61C7A730-95E2-4BD8-B662-56421D22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AVANCE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FC528-26FC-400A-B2F5-C1B70596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66687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572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D62FD-6DD7-4FA5-9E14-22BF222B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66687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F69DF-0E7B-4D70-AD97-182F7724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66687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037868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865A58A-BE6C-4F77-9B62-5DB44221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AB42372-BFB7-4AD8-AEE8-C28A3326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Exploración 1: una dimensión puede redefinir el vector completo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749781C-D72E-4D7D-82E8-11D45741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Distancia perturbada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Dᵣₐₙd = |(2Lr₁ + r₂)Xᵣₐₙd,ⱼ − Xᵢ,ⱼ|
Se eligen otro agente y una dimensión j.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95A589AC-A332-4F3F-B603-A009FB74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Asignación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Xᵢ(t+1) = Xᵣₐₙd,ⱼ − (2ar₁ − a)Dᵣₐₙd
El escalar resultante se escribe sobre el vector completo.</a:t>
            </a:r>
          </a:p>
        </p:txBody>
      </p:sp>
      <p:sp>
        <p:nvSpPr>
          <p:cNvPr id="5" name="accent-6">
            <a:extLst xmlns:a="http://schemas.openxmlformats.org/drawingml/2006/main">
              <a:ext uri="{FF2B5EF4-FFF2-40B4-BE49-F238E27FC236}">
                <a16:creationId xmlns:a16="http://schemas.microsoft.com/office/drawing/2014/main" id="{A797F969-9ECF-4641-B45B-E914AB3D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6">
            <a:extLst xmlns:a="http://schemas.openxmlformats.org/drawingml/2006/main">
              <a:ext uri="{FF2B5EF4-FFF2-40B4-BE49-F238E27FC236}">
                <a16:creationId xmlns:a16="http://schemas.microsoft.com/office/drawing/2014/main" id="{7F5AC6D1-25BD-46A0-A46E-4D4BE0CD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ECUACIONES</a:t>
            </a:r>
          </a:p>
        </p:txBody>
      </p:sp>
    </p:spTree>
    <p:extLst>
      <p:ext uri="{BB962C8B-B14F-4D97-AF65-F5344CB8AC3E}">
        <p14:creationId xmlns:p14="http://schemas.microsoft.com/office/powerpoint/2010/main" val="4809599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769E4AB-CCAD-4CE3-B983-0BBBC3C7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2DC5AEE-09F0-446F-BE10-1DF6F8D1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Exploración 2: dirección global más ajuste individual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F063B375-A385-44EA-86F4-C1B07083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Dirección global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Xα − X̄
Lectura del equipo: conecta el mejor registro con el centro poblacional.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00BE5A32-62CF-43DC-9E88-51144EF8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Nueva posición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Xᵢ(t+1) = (Xα − X̄) − R|Xα − Xᵢ|
La distancia al alfa conserva información individual.</a:t>
            </a:r>
          </a:p>
        </p:txBody>
      </p:sp>
      <p:sp>
        <p:nvSpPr>
          <p:cNvPr id="5" name="accent-7">
            <a:extLst xmlns:a="http://schemas.openxmlformats.org/drawingml/2006/main">
              <a:ext uri="{FF2B5EF4-FFF2-40B4-BE49-F238E27FC236}">
                <a16:creationId xmlns:a16="http://schemas.microsoft.com/office/drawing/2014/main" id="{2CF4E179-551B-4722-BFB2-69FF2322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7">
            <a:extLst xmlns:a="http://schemas.openxmlformats.org/drawingml/2006/main">
              <a:ext uri="{FF2B5EF4-FFF2-40B4-BE49-F238E27FC236}">
                <a16:creationId xmlns:a16="http://schemas.microsoft.com/office/drawing/2014/main" id="{E74C79B3-E4B2-4794-AC31-A26323E0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ECUACIONES</a:t>
            </a:r>
          </a:p>
        </p:txBody>
      </p:sp>
    </p:spTree>
    <p:extLst>
      <p:ext uri="{BB962C8B-B14F-4D97-AF65-F5344CB8AC3E}">
        <p14:creationId xmlns:p14="http://schemas.microsoft.com/office/powerpoint/2010/main" val="14931743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BA25DD0-8DFE-4823-A9E6-426EEF36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CB421BD-1653-4346-A9DE-0E1D8E14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Explotación: cada variable se asigna respecto del alfa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EF3419A-FEC3-4BCC-9081-70B9FA89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Coeficiente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Dᵅᵢ,ⱼ = |Xα,ⱼ − Xᵢ,ⱼ|
A₁ = 2ar₁ − a
A₂ = R + a·A₁·L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347D5459-E9D5-4707-B675-6ADCA4AB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Respuesta directa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Xᵢ,ⱼ(t+1) = Xα,ⱼ − A₂Dᵅᵢ,ⱼ
La operación se repite para j = 1, …, d.</a:t>
            </a:r>
          </a:p>
        </p:txBody>
      </p:sp>
      <p:sp>
        <p:nvSpPr>
          <p:cNvPr id="5" name="accent-8">
            <a:extLst xmlns:a="http://schemas.openxmlformats.org/drawingml/2006/main">
              <a:ext uri="{FF2B5EF4-FFF2-40B4-BE49-F238E27FC236}">
                <a16:creationId xmlns:a16="http://schemas.microsoft.com/office/drawing/2014/main" id="{26AE2DBC-4540-4B31-BFAB-BCFAC335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ection-8">
            <a:extLst xmlns:a="http://schemas.openxmlformats.org/drawingml/2006/main">
              <a:ext uri="{FF2B5EF4-FFF2-40B4-BE49-F238E27FC236}">
                <a16:creationId xmlns:a16="http://schemas.microsoft.com/office/drawing/2014/main" id="{20C96D08-F997-49A6-BF03-29B08032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ECUACIONES</a:t>
            </a:r>
          </a:p>
        </p:txBody>
      </p:sp>
      <p:sp>
        <p:nvSpPr>
          <p:cNvPr id="7" name="answer-callout">
            <a:extLst xmlns:a="http://schemas.openxmlformats.org/drawingml/2006/main">
              <a:ext uri="{FF2B5EF4-FFF2-40B4-BE49-F238E27FC236}">
                <a16:creationId xmlns:a16="http://schemas.microsoft.com/office/drawing/2014/main" id="{BF6563A5-2048-454C-BCF8-718D0E21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0540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E4572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valor nuevo = valor alfa − perturbación ponderada</a:t>
            </a:r>
          </a:p>
        </p:txBody>
      </p:sp>
    </p:spTree>
    <p:extLst>
      <p:ext uri="{BB962C8B-B14F-4D97-AF65-F5344CB8AC3E}">
        <p14:creationId xmlns:p14="http://schemas.microsoft.com/office/powerpoint/2010/main" val="5213797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1805FC73-D71C-4724-9B9E-73C65EA4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20C640F-44CC-44BE-827A-690D2529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Ruteo: una actualización mejora el fitness de 2.0201 a 1.9758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EF328713-DDB0-431B-B086-B24E8673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Sphere 2D · a = 1.8 · L = 0.022222 · R = 0.08 · A₂ = 0.1088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26779"/>
                </a:solidFill>
                <a:latin typeface="Aptos"/>
                <a:ea typeface="Aptos"/>
                <a:cs typeface="Aptos"/>
              </a:rPr>
              <a:t>Los números aleatorios se fijan para que el movimiento sea reproducible.</a:t>
            </a:r>
          </a:p>
        </p:txBody>
      </p:sp>
      <p:sp>
        <p:nvSpPr>
          <p:cNvPr id="4" name="route-table-cover">
            <a:extLst xmlns:a="http://schemas.openxmlformats.org/drawingml/2006/main">
              <a:ext uri="{FF2B5EF4-FFF2-40B4-BE49-F238E27FC236}">
                <a16:creationId xmlns:a16="http://schemas.microsoft.com/office/drawing/2014/main" id="{C5D6BDD3-6724-4E54-B945-F72F2A21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90750"/>
            <a:ext cx="11430000" cy="413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2"/>
          </a:solidFill>
          <a:ln xmlns:a="http://schemas.openxmlformats.org/drawingml/2006/main" w="0">
            <a:solidFill>
              <a:srgbClr val="FBF8F2"/>
            </a:solidFill>
            <a:prstDash val="solid"/>
          </a:ln>
        </p:spPr>
      </p:sp>
      <p:graphicFrame>
        <p:nvGraphicFramePr>
          <p:cNvPr id="13" name="route-table"/>
          <p:cNvGraphicFramePr/>
          <p:nvPr/>
        </p:nvGraphicFramePr>
        <p:xfrm>
          <a:off xmlns:a="http://schemas.openxmlformats.org/drawingml/2006/main" x="495300" y="2333625"/>
          <a:ext xmlns:a="http://schemas.openxmlformats.org/drawingml/2006/main" cx="11144250" cy="30003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714750"/>
                <a:gridCol w="2190750"/>
                <a:gridCol w="2190750"/>
                <a:gridCol w="3048000"/>
              </a:tblGrid>
              <a:tr h="6000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x₁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x₂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f(x)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Agente Xᵢ(t)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1.010000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1.000000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2.020100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Alfa Xα(t)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1.000000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0.990000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1.980100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Distancia al alfa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0.010000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0.010000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Nuevo Xᵢ(t+1)</a:t>
                      </a:r>
                    </a:p>
                  </a:txBody>
                  <a:tcPr marL="91440" marR="91440" marT="45720" marB="45720">
                    <a:solidFill>
                      <a:srgbClr val="DFF1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0.998912</a:t>
                      </a:r>
                    </a:p>
                  </a:txBody>
                  <a:tcPr marL="91440" marR="91440" marT="45720" marB="45720">
                    <a:solidFill>
                      <a:srgbClr val="DFF1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0.988912</a:t>
                      </a:r>
                    </a:p>
                  </a:txBody>
                  <a:tcPr marL="91440" marR="91440" marT="45720" marB="45720">
                    <a:solidFill>
                      <a:srgbClr val="DFF1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1.975772</a:t>
                      </a:r>
                    </a:p>
                  </a:txBody>
                  <a:tcPr marL="91440" marR="91440" marT="45720" marB="45720">
                    <a:solidFill>
                      <a:srgbClr val="DFF1F0"/>
                    </a:solidFill>
                  </a:tcPr>
                </a:tc>
              </a:tr>
            </a:tbl>
          </a:graphicData>
        </a:graphic>
      </p:graphicFrame>
      <p:sp>
        <p:nvSpPr>
          <p:cNvPr id="6" name="route-equation">
            <a:extLst xmlns:a="http://schemas.openxmlformats.org/drawingml/2006/main">
              <a:ext uri="{FF2B5EF4-FFF2-40B4-BE49-F238E27FC236}">
                <a16:creationId xmlns:a16="http://schemas.microsoft.com/office/drawing/2014/main" id="{CCD097A5-C171-4224-87FE-B68E1639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E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x₁′ = 1.00 − 0.1088·0.01     ·     x₂′ = 0.99 − 0.1088·0.01</a:t>
            </a:r>
          </a:p>
        </p:txBody>
      </p:sp>
      <p:sp>
        <p:nvSpPr>
          <p:cNvPr id="7" name="accent-9">
            <a:extLst xmlns:a="http://schemas.openxmlformats.org/drawingml/2006/main">
              <a:ext uri="{FF2B5EF4-FFF2-40B4-BE49-F238E27FC236}">
                <a16:creationId xmlns:a16="http://schemas.microsoft.com/office/drawing/2014/main" id="{378906F2-BEB1-4CE4-9C69-EF741700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ection-9">
            <a:extLst xmlns:a="http://schemas.openxmlformats.org/drawingml/2006/main">
              <a:ext uri="{FF2B5EF4-FFF2-40B4-BE49-F238E27FC236}">
                <a16:creationId xmlns:a16="http://schemas.microsoft.com/office/drawing/2014/main" id="{0206D2C0-13CA-4577-9E57-4F72B39A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RUTEO NUMÉRICO</a:t>
            </a:r>
          </a:p>
        </p:txBody>
      </p:sp>
    </p:spTree>
    <p:extLst>
      <p:ext uri="{BB962C8B-B14F-4D97-AF65-F5344CB8AC3E}">
        <p14:creationId xmlns:p14="http://schemas.microsoft.com/office/powerpoint/2010/main" val="3475370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EC4A40B-7B9F-4A82-9873-AB810540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32269FE6-97AB-41EA-8EC9-078482FC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La ejecución oficial reduce el fitness en Sphere</a:t>
            </a:r>
          </a:p>
        </p:txBody>
      </p:sp>
      <p:sp>
        <p:nvSpPr>
          <p:cNvPr id="3" name="Rounded-Rectangle-36-4">
            <a:extLst xmlns:a="http://schemas.openxmlformats.org/drawingml/2006/main">
              <a:ext uri="{FF2B5EF4-FFF2-40B4-BE49-F238E27FC236}">
                <a16:creationId xmlns:a16="http://schemas.microsoft.com/office/drawing/2014/main" id="{0E90137A-BBFF-4313-8C9D-F2F0F642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022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9-5">
            <a:extLst xmlns:a="http://schemas.openxmlformats.org/drawingml/2006/main">
              <a:ext uri="{FF2B5EF4-FFF2-40B4-BE49-F238E27FC236}">
                <a16:creationId xmlns:a16="http://schemas.microsoft.com/office/drawing/2014/main" id="{11E4BD4C-F590-4194-A0AE-AF9B7EB7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385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95.2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746E8E74-6289-4573-85E0-405BAA65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65" y="5068253"/>
            <a:ext cx="2066735" cy="615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órdenes de
magnitud</a:t>
            </a:r>
          </a:p>
        </p:txBody>
      </p:sp>
      <p:sp>
        <p:nvSpPr>
          <p:cNvPr id="6" name="Rounded-Rectangle-39-7">
            <a:extLst xmlns:a="http://schemas.openxmlformats.org/drawingml/2006/main">
              <a:ext uri="{FF2B5EF4-FFF2-40B4-BE49-F238E27FC236}">
                <a16:creationId xmlns:a16="http://schemas.microsoft.com/office/drawing/2014/main" id="{8BFC4C57-4D94-475D-8F03-11ED9BBEE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4201" y="3360039"/>
            <a:ext cx="2581942" cy="2656523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9-8">
            <a:extLst xmlns:a="http://schemas.openxmlformats.org/drawingml/2006/main">
              <a:ext uri="{FF2B5EF4-FFF2-40B4-BE49-F238E27FC236}">
                <a16:creationId xmlns:a16="http://schemas.microsoft.com/office/drawing/2014/main" id="{0E70E94A-E5A5-4CCA-9713-77D6D8CF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564" y="3579971"/>
            <a:ext cx="2133314" cy="11558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7A4D7BD-FAD6-460A-B0FE-9DB67382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143" y="5068253"/>
            <a:ext cx="2066735" cy="615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semilla
preliminar</a:t>
            </a:r>
          </a:p>
        </p:txBody>
      </p:sp>
      <p:sp>
        <p:nvSpPr>
          <p:cNvPr id="9" name="Content-Placeholder-2-10">
            <a:extLst xmlns:a="http://schemas.openxmlformats.org/drawingml/2006/main">
              <a:ext uri="{FF2B5EF4-FFF2-40B4-BE49-F238E27FC236}">
                <a16:creationId xmlns:a16="http://schemas.microsoft.com/office/drawing/2014/main" id="{2853AEB7-1AEA-42B5-94CE-C2AC0685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1068" y="1955578"/>
            <a:ext cx="553983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26779"/>
                </a:solidFill>
                <a:latin typeface="Aptos"/>
                <a:ea typeface="Aptos"/>
                <a:cs typeface="Aptos"/>
              </a:rPr>
              <a:t>Prueba controlada: d = 3 · 20 agentes · 100 iteraciones · semilla 20260728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385763" y="1254443"/>
          <a:ext xmlns:a="http://schemas.openxmlformats.org/drawingml/2006/main" cx="5534025" cy="5024438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d43063bf664863"/>
          </a:graphicData>
        </a:graphic>
      </p:graphicFrame>
      <p:sp>
        <p:nvSpPr>
          <p:cNvPr id="11" name="accent-10">
            <a:extLst xmlns:a="http://schemas.openxmlformats.org/drawingml/2006/main">
              <a:ext uri="{FF2B5EF4-FFF2-40B4-BE49-F238E27FC236}">
                <a16:creationId xmlns:a16="http://schemas.microsoft.com/office/drawing/2014/main" id="{F17707E9-8A0E-41C3-83B8-7FDF243F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ection-10">
            <a:extLst xmlns:a="http://schemas.openxmlformats.org/drawingml/2006/main">
              <a:ext uri="{FF2B5EF4-FFF2-40B4-BE49-F238E27FC236}">
                <a16:creationId xmlns:a16="http://schemas.microsoft.com/office/drawing/2014/main" id="{3CA100B5-7715-4E43-B49B-1F27CD57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VERIFICACIÓN PRELIMINAR</a:t>
            </a:r>
          </a:p>
        </p:txBody>
      </p:sp>
    </p:spTree>
    <p:extLst>
      <p:ext uri="{BB962C8B-B14F-4D97-AF65-F5344CB8AC3E}">
        <p14:creationId xmlns:p14="http://schemas.microsoft.com/office/powerpoint/2010/main" val="3345797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A47D73D6-47BD-4B41-B0AF-A0C999E5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9A49591-DAFA-41E3-B42B-0E828D7B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Discrepancias que afectan la reproducibilidad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3F597872-7280-43E4-B5D9-45030AD0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Paper y código se tratan como fuentes distintas: las diferencias se documentan y se prueban como variantes.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26779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4" name="differences-table-cover">
            <a:extLst xmlns:a="http://schemas.openxmlformats.org/drawingml/2006/main">
              <a:ext uri="{FF2B5EF4-FFF2-40B4-BE49-F238E27FC236}">
                <a16:creationId xmlns:a16="http://schemas.microsoft.com/office/drawing/2014/main" id="{941C9767-BC7A-4370-AD38-18C25350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124075"/>
            <a:ext cx="114300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8F2"/>
          </a:solidFill>
          <a:ln xmlns:a="http://schemas.openxmlformats.org/drawingml/2006/main" w="0">
            <a:solidFill>
              <a:srgbClr val="FBF8F2"/>
            </a:solidFill>
            <a:prstDash val="solid"/>
          </a:ln>
        </p:spPr>
      </p:sp>
      <p:graphicFrame>
        <p:nvGraphicFramePr>
          <p:cNvPr id="12" name="differences-table"/>
          <p:cNvGraphicFramePr/>
          <p:nvPr/>
        </p:nvGraphicFramePr>
        <p:xfrm>
          <a:off xmlns:a="http://schemas.openxmlformats.org/drawingml/2006/main" x="400050" y="2143125"/>
          <a:ext xmlns:a="http://schemas.openxmlformats.org/drawingml/2006/main" cx="11391900" cy="38576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38375"/>
                <a:gridCol w="2952750"/>
                <a:gridCol w="3190875"/>
                <a:gridCol w="3009900"/>
              </a:tblGrid>
              <a:tr h="77152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Punto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Artículo / pseudocódigo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Repositorio oficial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Criterio de trabajo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Umbral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Reutiliza r₄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Python usa tres sorteos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Registrar ambas variantes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a(T)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Decrece hasta 0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Python evita 0; MATLAB no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Prevenir singularidad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Evaluación final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Evalúa tras mover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Último movimiento no se evalúa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Evaluar antes de retornar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Bucle por j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Mezcla escalar y vector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Escrituras vectoriales dentro de j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0">
                          <a:solidFill>
                            <a:srgbClr val="17324D"/>
                          </a:solidFill>
                          <a:latin typeface="Aptos"/>
                          <a:ea typeface="Aptos"/>
                          <a:cs typeface="Aptos"/>
                        </a:rPr>
                        <a:t>Crear pruebas de asignación</a:t>
                      </a:r>
                    </a:p>
                  </a:txBody>
                  <a:tcPr marL="91440" marR="91440" marT="45720" marB="45720">
                    <a:solidFill>
                      <a:srgbClr val="F2F4F1"/>
                    </a:solidFill>
                  </a:tcPr>
                </a:tc>
              </a:tr>
            </a:tbl>
          </a:graphicData>
        </a:graphic>
      </p:graphicFrame>
      <p:sp>
        <p:nvSpPr>
          <p:cNvPr id="6" name="accent-11">
            <a:extLst xmlns:a="http://schemas.openxmlformats.org/drawingml/2006/main">
              <a:ext uri="{FF2B5EF4-FFF2-40B4-BE49-F238E27FC236}">
                <a16:creationId xmlns:a16="http://schemas.microsoft.com/office/drawing/2014/main" id="{EAE3E62A-316F-4E63-B0E0-B584BF32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ection-11">
            <a:extLst xmlns:a="http://schemas.openxmlformats.org/drawingml/2006/main">
              <a:ext uri="{FF2B5EF4-FFF2-40B4-BE49-F238E27FC236}">
                <a16:creationId xmlns:a16="http://schemas.microsoft.com/office/drawing/2014/main" id="{8B78B4F6-FFDB-4A6E-9373-EAD9B781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3627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PWO · REPRODUCIBILIDAD</a:t>
            </a:r>
          </a:p>
        </p:txBody>
      </p:sp>
    </p:spTree>
    <p:extLst>
      <p:ext uri="{BB962C8B-B14F-4D97-AF65-F5344CB8AC3E}">
        <p14:creationId xmlns:p14="http://schemas.microsoft.com/office/powerpoint/2010/main" val="2332400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3-1">
            <a:extLst xmlns:a="http://schemas.openxmlformats.org/drawingml/2006/main">
              <a:ext uri="{FF2B5EF4-FFF2-40B4-BE49-F238E27FC236}">
                <a16:creationId xmlns:a16="http://schemas.microsoft.com/office/drawing/2014/main" id="{DEEFA724-ACCA-40C1-943C-7CD28687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Fijar la dinámica real
antes de binarizar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B6EF7919-ECA5-4143-ADF6-3B80D2FB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E4572E"/>
                </a:solidFill>
                <a:latin typeface="Aptos"/>
                <a:ea typeface="Aptos"/>
                <a:cs typeface="Aptos"/>
              </a:rPr>
              <a:t>1 · estabilizar la versión continua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2 · reproducir benchmarks con múltiples semillas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3 · diseñar y evaluar la binarización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E18BDBC-FAE5-42A2-B411-766DB8BC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SIGUIENTE ETAPA</a:t>
            </a:r>
          </a:p>
        </p:txBody>
      </p:sp>
      <p:sp>
        <p:nvSpPr>
          <p:cNvPr id="4" name="final-callout">
            <a:extLst xmlns:a="http://schemas.openxmlformats.org/drawingml/2006/main">
              <a:ext uri="{FF2B5EF4-FFF2-40B4-BE49-F238E27FC236}">
                <a16:creationId xmlns:a16="http://schemas.microsoft.com/office/drawing/2014/main" id="{E160ABAB-196F-47A0-B819-3EF7E80C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47850"/>
            <a:ext cx="1428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DFF1F0"/>
          </a:solidFill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5" name="final-callout-text">
            <a:extLst xmlns:a="http://schemas.openxmlformats.org/drawingml/2006/main">
              <a:ext uri="{FF2B5EF4-FFF2-40B4-BE49-F238E27FC236}">
                <a16:creationId xmlns:a16="http://schemas.microsoft.com/office/drawing/2014/main" id="{D6EA4C06-7B16-4DB5-8493-9F602C3F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095500"/>
            <a:ext cx="1028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87E8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X(t)</a:t>
            </a:r>
          </a:p>
          <a:p xmlns:a="http://schemas.openxmlformats.org/drawingml/2006/main">
            <a:pPr algn="ctr">
              <a:defRPr sz="1875" b="1">
                <a:solidFill>
                  <a:srgbClr val="087E8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→</a:t>
            </a:r>
          </a:p>
          <a:p xmlns:a="http://schemas.openxmlformats.org/drawingml/2006/main">
            <a:pPr algn="ctr">
              <a:defRPr sz="1875" b="1">
                <a:solidFill>
                  <a:srgbClr val="087E8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E8B"/>
                </a:solidFill>
                <a:latin typeface="Aptos"/>
                <a:ea typeface="Aptos"/>
                <a:cs typeface="Aptos"/>
              </a:rPr>
              <a:t>X(t+1)</a:t>
            </a:r>
          </a:p>
        </p:txBody>
      </p:sp>
    </p:spTree>
    <p:extLst>
      <p:ext uri="{BB962C8B-B14F-4D97-AF65-F5344CB8AC3E}">
        <p14:creationId xmlns:p14="http://schemas.microsoft.com/office/powerpoint/2010/main" val="6855258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2026-07-31T04:15:16.9900000Z</dcterms:created>
  <dcterms:modified xsi:type="dcterms:W3CDTF">2026-07-31T04:15:16.9900000Z</dcterms:modified>
</coreProperties>
</file>